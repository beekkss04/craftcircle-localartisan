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CraftCircle in one sentence: a neighbourhood buying club where households pool orders from local artisans so one consolidated delivery replaces many expensive parcels. Mention the headline saving from the case: logistics falls from 1,800 rupees to 700 rupees on a typical 12,000 rupee pooled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numbers left to right. The case gives a typical combined order of 12,000 rupees and logistics of 1,800 rupees individually versus 700 rupees consolidated. That is 15.0 percent of order value versus 5.8 percent, a saving of 1,100 rupees or 61.1 percent. Assumption to state: the pooled order is shared by about 8 households, so each member pays 87.50 rupees instead of 225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Value Proposition Canvas in one view. Left: the customer we design for and the wider segments. Right: each customer pain matched to a CraftCircle pain reliever. Gain creators to mention verbally: a savings tracker that shows how much each member saved, maker stories, pod leaderboards, and early access to limited drops. Jobs to be done: furnish and gift with authentic items, support local makers, and buy without hassle.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from pledge to delivery. The key idea is the pooled order window: money is only captured once the pool reaches its minimum of 10,000 rupees and 6 members, so there is no risk of shipping tiny orders. Responsibilities: Platform runs pledges, the Ops coordinator confirms pools and places purchase orders, artisans make and dispatch, the Hub team inspects and packs, and the logistics partner runs the single shared trip. The full supply chain diagram and Business Model Canvas are separate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economics: revenue is 1,440 rupees commission plus about 333 rupees membership share, which is 8 members times 499 rupees divided by 12. Variable costs are 254 rupees payment gateway, 360 rupees hub packing and quality check, and 150 rupees support, totalling 764. The 700 rupee logistics charge is collected and paid out, so it nets to zero. Contribution is 1,009 rupees per pooled order. Fixed costs of 36,000 rupees a month give a break-even of 35.7, rounded up to 36 pooled orders. Over 90 days the plan reaches 4, 18 and 40 pooled orders, 62 in total, and members save 68,200 rupees in logistics.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SWOT in one breath: strong on a 61 percent logistics saving, prepaid batched demand and trusted neighbourhood pods; weak on 7 to 10 day delivery, dependence on pool volume, and being a new brand; opportunity in local and sustainable demand, society WhatsApp groups and gifting; threatened by Instagram sellers, courier price rises and artisans selling direct. The table shows the five risks that matter most and the practical fix for each. The biggest single risk is a pool missing its 10,000 rupee minimum, which is why the fixes are pod captains, one 3-day extension and merging nearby pods, and why members are only charged once the pool confirms.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model: a community-led two-sided marketplace with a paid membership, launched one housing society at a time in Navi Mumbai because pooling works only where households are close together. Two ways to acquire early members: society pods led by pod captains, and artisan co-marketing with craft pop-ups. The 90-day plan has three gates: day 30, first pool full and 100 members; day 60, 85 percent of pools filling and 90 percent on-time delivery; day 90, 36 or more pooled orders a month and NPS of 50 or more. A missed gate means repeating that phase, not skipping ahead. Over 90 days the projection is 62 pooled orders, 7.44 lakh rupees of order value, and 68,200 rupees of logistics saved for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one-sentence summary: pooling cuts logistics from 1,800 rupees to 700 rupees on a typical order, and 36 pooled orders a month is the break-even volume. Then invite questions and, if asked, offer to open the demo or the Business Model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EEE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2A2521"/>
                </a:solidFill>
                <a:latin typeface="Fraunces" pitchFamily="34" charset="0"/>
                <a:ea typeface="Fraunces" pitchFamily="34" charset="-122"/>
                <a:cs typeface="Fraunce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620490"/>
            <a:ext cx="10566400" cy="4424710"/>
          </a:xfrm>
          <a:prstGeom prst="rect">
            <a:avLst/>
          </a:prstGeom>
          <a:noFill/>
          <a:ln/>
        </p:spPr>
        <p:txBody>
          <a:bodyPr wrap="square" lIns="0" tIns="0" rIns="0" bIns="0" rtlCol="0" anchor="t"/>
          <a:lstStyle>
            <a:lvl1pPr algn="l" indent="0" marL="0">
              <a:lnSpc>
                <a:spcPct val="140000"/>
              </a:lnSpc>
              <a:buNone/>
              <a:defRPr lang="en-US" sz="1600" dirty="0">
                <a:solidFill>
                  <a:srgbClr val="2A2521"/>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EE4"/>
        </a:solidFill>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4A"/>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D3B3"/>
                </a:solidFill>
                <a:latin typeface="DM Sans" pitchFamily="34" charset="0"/>
                <a:ea typeface="DM Sans" pitchFamily="34" charset="-122"/>
                <a:cs typeface="DM Sans" pitchFamily="34" charset="-120"/>
              </a:rPr>
              <a:t>Go-to-Market &amp; Customer Operations · Case Study 25</a:t>
            </a:r>
            <a:endParaRPr lang="en-US" sz="1600" dirty="0"/>
          </a:p>
        </p:txBody>
      </p:sp>
      <p:sp>
        <p:nvSpPr>
          <p:cNvPr id="3" name="Text 1"/>
          <p:cNvSpPr/>
          <p:nvPr>
            <p:ph type="title"/>
          </p:nvPr>
        </p:nvSpPr>
        <p:spPr>
          <a:xfrm>
            <a:off x="812800" y="2087959"/>
            <a:ext cx="10883392" cy="1254720"/>
          </a:xfrm>
          <a:prstGeom prst="rect">
            <a:avLst/>
          </a:prstGeom>
          <a:noFill/>
          <a:ln/>
        </p:spPr>
        <p:txBody>
          <a:bodyPr wrap="square" lIns="0" tIns="0" rIns="0" bIns="0" rtlCol="0" anchor="t">
            <a:normAutofit/>
          </a:bodyPr>
          <a:lstStyle/>
          <a:p>
            <a:pPr algn="l" indent="0" marL="0">
              <a:lnSpc>
                <a:spcPts val="9680"/>
              </a:lnSpc>
              <a:buNone/>
            </a:pPr>
            <a:r>
              <a:rPr lang="en-US" sz="8800" b="1" i="0" dirty="0">
                <a:solidFill>
                  <a:srgbClr val="F4EEE4"/>
                </a:solidFill>
                <a:latin typeface="Fraunces" pitchFamily="18" charset="0"/>
                <a:ea typeface="Fraunces" pitchFamily="18" charset="-122"/>
                <a:cs typeface="Fraunces" pitchFamily="18" charset="-120"/>
              </a:rPr>
              <a:t>CraftCircle</a:t>
            </a:r>
            <a:endParaRPr lang="en-US" sz="8800" dirty="0"/>
          </a:p>
        </p:txBody>
      </p:sp>
      <p:sp>
        <p:nvSpPr>
          <p:cNvPr id="4" name="Text 2"/>
          <p:cNvSpPr/>
          <p:nvPr/>
        </p:nvSpPr>
        <p:spPr>
          <a:xfrm>
            <a:off x="812800" y="352048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4EEE4"/>
                </a:solidFill>
                <a:latin typeface="DM Sans" pitchFamily="34" charset="0"/>
                <a:ea typeface="DM Sans" pitchFamily="34" charset="-122"/>
                <a:cs typeface="DM Sans" pitchFamily="34" charset="-120"/>
              </a:rPr>
              <a:t>Local Artisan Bulk Buying Club</a:t>
            </a:r>
            <a:endParaRPr lang="en-US" sz="3200" dirty="0"/>
          </a:p>
        </p:txBody>
      </p:sp>
      <p:sp>
        <p:nvSpPr>
          <p:cNvPr id="5" name="Text 3"/>
          <p:cNvSpPr/>
          <p:nvPr/>
        </p:nvSpPr>
        <p:spPr>
          <a:xfrm>
            <a:off x="812800" y="4170710"/>
            <a:ext cx="85026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5D3B3"/>
                </a:solidFill>
                <a:latin typeface="DM Sans" pitchFamily="34" charset="0"/>
                <a:ea typeface="DM Sans" pitchFamily="34" charset="-122"/>
                <a:cs typeface="DM Sans" pitchFamily="34" charset="-120"/>
              </a:rPr>
              <a:t>Pool orders from local artisans, share one delivery, and cut logistics cost by 61%.</a:t>
            </a:r>
            <a:endParaRPr lang="en-US" sz="2000" dirty="0"/>
          </a:p>
        </p:txBody>
      </p:sp>
      <p:sp>
        <p:nvSpPr>
          <p:cNvPr id="6" name="Text 4"/>
          <p:cNvSpPr/>
          <p:nvPr/>
        </p:nvSpPr>
        <p:spPr>
          <a:xfrm>
            <a:off x="812800" y="518671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4EEE4"/>
                </a:solidFill>
                <a:latin typeface="DM Sans" pitchFamily="34" charset="0"/>
                <a:ea typeface="DM Sans" pitchFamily="34" charset="-122"/>
                <a:cs typeface="DM Sans" pitchFamily="34" charset="-120"/>
              </a:rPr>
              <a:t>Bhaumikk Keer</a:t>
            </a:r>
            <a:endParaRPr lang="en-US" sz="2000" dirty="0"/>
          </a:p>
        </p:txBody>
      </p:sp>
      <p:sp>
        <p:nvSpPr>
          <p:cNvPr id="7" name="Text 5"/>
          <p:cNvSpPr/>
          <p:nvPr/>
        </p:nvSpPr>
        <p:spPr>
          <a:xfrm>
            <a:off x="812800" y="55931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D3B3"/>
                </a:solidFill>
                <a:latin typeface="DM Sans" pitchFamily="34" charset="0"/>
                <a:ea typeface="DM Sans" pitchFamily="34" charset="-122"/>
                <a:cs typeface="DM Sans" pitchFamily="34" charset="-120"/>
              </a:rPr>
              <a:t>Roll no. 150096725030 · Cohort: Larry Page</a:t>
            </a:r>
            <a:endParaRPr lang="en-US" sz="14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EE4"/>
                </a:solidFill>
                <a:latin typeface="DM Sans" pitchFamily="34" charset="0"/>
                <a:ea typeface="DM Sans" pitchFamily="34" charset="-122"/>
                <a:cs typeface="DM Sans" pitchFamily="34" charset="-120"/>
              </a:rPr>
              <a:t>B.Tech CSE 2026-30 · Semester III · ITM Skills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EE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A2521"/>
                </a:solidFill>
                <a:latin typeface="Fraunces" pitchFamily="18" charset="0"/>
                <a:ea typeface="Fraunces" pitchFamily="18" charset="-122"/>
                <a:cs typeface="Fraunces" pitchFamily="18" charset="-120"/>
              </a:rPr>
              <a:t>The problem and the opportunity</a:t>
            </a:r>
            <a:endParaRPr lang="en-US" sz="3600" dirty="0"/>
          </a:p>
        </p:txBody>
      </p:sp>
      <p:sp>
        <p:nvSpPr>
          <p:cNvPr id="3" name="Shape 1"/>
          <p:cNvSpPr/>
          <p:nvPr/>
        </p:nvSpPr>
        <p:spPr>
          <a:xfrm>
            <a:off x="819150" y="2056209"/>
            <a:ext cx="3390900" cy="1729680"/>
          </a:xfrm>
          <a:prstGeom prst="roundRect">
            <a:avLst>
              <a:gd name="adj" fmla="val 5507"/>
            </a:avLst>
          </a:prstGeom>
          <a:solidFill>
            <a:srgbClr val="FFFDF8"/>
          </a:solidFill>
          <a:ln w="12700">
            <a:solidFill>
              <a:srgbClr val="D8CBB8"/>
            </a:solidFill>
            <a:prstDash val="solid"/>
          </a:ln>
        </p:spPr>
      </p:sp>
      <p:sp>
        <p:nvSpPr>
          <p:cNvPr id="4" name="Text 2"/>
          <p:cNvSpPr/>
          <p:nvPr/>
        </p:nvSpPr>
        <p:spPr>
          <a:xfrm>
            <a:off x="1079500" y="2316559"/>
            <a:ext cx="295630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2A2521"/>
                </a:solidFill>
                <a:latin typeface="Fraunces" pitchFamily="18" charset="0"/>
                <a:ea typeface="Fraunces" pitchFamily="18" charset="-122"/>
                <a:cs typeface="Fraunces" pitchFamily="18" charset="-120"/>
              </a:rPr>
              <a:t>₹1,800</a:t>
            </a:r>
            <a:endParaRPr lang="en-US" sz="4800" dirty="0"/>
          </a:p>
        </p:txBody>
      </p:sp>
      <p:sp>
        <p:nvSpPr>
          <p:cNvPr id="5" name="Text 3"/>
          <p:cNvSpPr/>
          <p:nvPr/>
        </p:nvSpPr>
        <p:spPr>
          <a:xfrm>
            <a:off x="1079500" y="3063280"/>
            <a:ext cx="2956306"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E5347"/>
                </a:solidFill>
                <a:latin typeface="DM Sans" pitchFamily="34" charset="0"/>
                <a:ea typeface="DM Sans" pitchFamily="34" charset="-122"/>
                <a:cs typeface="DM Sans" pitchFamily="34" charset="-120"/>
              </a:rPr>
              <a:t>Individual shipping, 15.0% of a ₹12,000 order</a:t>
            </a:r>
            <a:endParaRPr lang="en-US" sz="1400" dirty="0"/>
          </a:p>
        </p:txBody>
      </p:sp>
      <p:sp>
        <p:nvSpPr>
          <p:cNvPr id="6" name="Shape 4"/>
          <p:cNvSpPr/>
          <p:nvPr/>
        </p:nvSpPr>
        <p:spPr>
          <a:xfrm>
            <a:off x="4419600" y="2049859"/>
            <a:ext cx="3378200" cy="1742380"/>
          </a:xfrm>
          <a:prstGeom prst="roundRect">
            <a:avLst>
              <a:gd name="adj" fmla="val 5831"/>
            </a:avLst>
          </a:prstGeom>
          <a:solidFill>
            <a:srgbClr val="1F4E4A"/>
          </a:solidFill>
          <a:ln/>
        </p:spPr>
      </p:sp>
      <p:sp>
        <p:nvSpPr>
          <p:cNvPr id="7" name="Text 5"/>
          <p:cNvSpPr/>
          <p:nvPr/>
        </p:nvSpPr>
        <p:spPr>
          <a:xfrm>
            <a:off x="4673600" y="2303859"/>
            <a:ext cx="295630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EEE4"/>
                </a:solidFill>
                <a:latin typeface="Fraunces" pitchFamily="18" charset="0"/>
                <a:ea typeface="Fraunces" pitchFamily="18" charset="-122"/>
                <a:cs typeface="Fraunces" pitchFamily="18" charset="-120"/>
              </a:rPr>
              <a:t>₹700</a:t>
            </a:r>
            <a:endParaRPr lang="en-US" sz="4800" dirty="0"/>
          </a:p>
        </p:txBody>
      </p:sp>
      <p:sp>
        <p:nvSpPr>
          <p:cNvPr id="8" name="Text 6"/>
          <p:cNvSpPr/>
          <p:nvPr/>
        </p:nvSpPr>
        <p:spPr>
          <a:xfrm>
            <a:off x="4673600" y="3050580"/>
            <a:ext cx="31242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5D3B3"/>
                </a:solidFill>
                <a:latin typeface="DM Sans" pitchFamily="34" charset="0"/>
                <a:ea typeface="DM Sans" pitchFamily="34" charset="-122"/>
                <a:cs typeface="DM Sans" pitchFamily="34" charset="-120"/>
              </a:rPr>
              <a:t>Pooled shipping, 5.8% of the order</a:t>
            </a:r>
            <a:endParaRPr lang="en-US" sz="1400" dirty="0"/>
          </a:p>
        </p:txBody>
      </p:sp>
      <p:sp>
        <p:nvSpPr>
          <p:cNvPr id="9" name="Shape 7"/>
          <p:cNvSpPr/>
          <p:nvPr/>
        </p:nvSpPr>
        <p:spPr>
          <a:xfrm>
            <a:off x="8001000" y="2049859"/>
            <a:ext cx="3378200" cy="1742380"/>
          </a:xfrm>
          <a:prstGeom prst="roundRect">
            <a:avLst>
              <a:gd name="adj" fmla="val 5831"/>
            </a:avLst>
          </a:prstGeom>
          <a:solidFill>
            <a:srgbClr val="B4532A"/>
          </a:solidFill>
          <a:ln/>
        </p:spPr>
      </p:sp>
      <p:sp>
        <p:nvSpPr>
          <p:cNvPr id="10" name="Text 8"/>
          <p:cNvSpPr/>
          <p:nvPr/>
        </p:nvSpPr>
        <p:spPr>
          <a:xfrm>
            <a:off x="8255000" y="2303859"/>
            <a:ext cx="2956306"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FFDF8"/>
                </a:solidFill>
                <a:latin typeface="Fraunces" pitchFamily="18" charset="0"/>
                <a:ea typeface="Fraunces" pitchFamily="18" charset="-122"/>
                <a:cs typeface="Fraunces" pitchFamily="18" charset="-120"/>
              </a:rPr>
              <a:t>₹1,100</a:t>
            </a:r>
            <a:endParaRPr lang="en-US" sz="4800" dirty="0"/>
          </a:p>
        </p:txBody>
      </p:sp>
      <p:sp>
        <p:nvSpPr>
          <p:cNvPr id="11" name="Text 9"/>
          <p:cNvSpPr/>
          <p:nvPr/>
        </p:nvSpPr>
        <p:spPr>
          <a:xfrm>
            <a:off x="8255000" y="3050580"/>
            <a:ext cx="2956306"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FFDF8"/>
                </a:solidFill>
                <a:latin typeface="DM Sans" pitchFamily="34" charset="0"/>
                <a:ea typeface="DM Sans" pitchFamily="34" charset="-122"/>
                <a:cs typeface="DM Sans" pitchFamily="34" charset="-120"/>
              </a:rPr>
              <a:t>Saved per pooled order, a 61.1% cut</a:t>
            </a:r>
            <a:endParaRPr lang="en-US" sz="1400" dirty="0"/>
          </a:p>
        </p:txBody>
      </p:sp>
      <p:sp>
        <p:nvSpPr>
          <p:cNvPr id="12" name="Text 10"/>
          <p:cNvSpPr/>
          <p:nvPr/>
        </p:nvSpPr>
        <p:spPr>
          <a:xfrm>
            <a:off x="812800" y="4526409"/>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Problem statement</a:t>
            </a:r>
            <a:endParaRPr lang="en-US" sz="1600" dirty="0"/>
          </a:p>
        </p:txBody>
      </p:sp>
      <p:sp>
        <p:nvSpPr>
          <p:cNvPr id="13" name="Text 11"/>
          <p:cNvSpPr/>
          <p:nvPr/>
        </p:nvSpPr>
        <p:spPr>
          <a:xfrm>
            <a:off x="812800" y="4846439"/>
            <a:ext cx="5284724"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521"/>
                </a:solidFill>
                <a:latin typeface="DM Sans" pitchFamily="34" charset="0"/>
                <a:ea typeface="DM Sans" pitchFamily="34" charset="-122"/>
                <a:cs typeface="DM Sans" pitchFamily="34" charset="-120"/>
              </a:rPr>
              <a:t>Urban households that prefer authentic local handmade goods cannot buy them affordably in small quantities, because every parcel carries a full individual shipping charge of about 15% of the basket.</a:t>
            </a:r>
            <a:endParaRPr lang="en-US" sz="1400" dirty="0"/>
          </a:p>
        </p:txBody>
      </p:sp>
      <p:sp>
        <p:nvSpPr>
          <p:cNvPr id="14" name="Text 12"/>
          <p:cNvSpPr/>
          <p:nvPr/>
        </p:nvSpPr>
        <p:spPr>
          <a:xfrm>
            <a:off x="6248400" y="4526409"/>
            <a:ext cx="528472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Opportunity statement</a:t>
            </a:r>
            <a:endParaRPr lang="en-US" sz="1600" dirty="0"/>
          </a:p>
        </p:txBody>
      </p:sp>
      <p:sp>
        <p:nvSpPr>
          <p:cNvPr id="15" name="Text 13"/>
          <p:cNvSpPr/>
          <p:nvPr/>
        </p:nvSpPr>
        <p:spPr>
          <a:xfrm>
            <a:off x="6248400" y="4846439"/>
            <a:ext cx="5284724"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521"/>
                </a:solidFill>
                <a:latin typeface="DM Sans" pitchFamily="34" charset="0"/>
                <a:ea typeface="DM Sans" pitchFamily="34" charset="-122"/>
                <a:cs typeface="DM Sans" pitchFamily="34" charset="-120"/>
              </a:rPr>
              <a:t>By pooling demand into weekly order windows, CraftCircle can cut logistics to about 5.8% of order value, give artisans prepaid batched orders, and earn a commission for running the club.</a:t>
            </a:r>
            <a:endParaRPr lang="en-US" sz="14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Case data: pooled order ₹12,000; logistics ₹1,800 if shipped individually, ₹700 when consolidated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EE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A2521"/>
                </a:solidFill>
                <a:latin typeface="Fraunces" pitchFamily="18" charset="0"/>
                <a:ea typeface="Fraunces" pitchFamily="18" charset="-122"/>
                <a:cs typeface="Fraunces" pitchFamily="18" charset="-120"/>
              </a:rPr>
              <a:t>Customers and value proposition</a:t>
            </a:r>
            <a:endParaRPr lang="en-US" sz="3600" dirty="0"/>
          </a:p>
        </p:txBody>
      </p:sp>
      <p:sp>
        <p:nvSpPr>
          <p:cNvPr id="3" name="Shape 1"/>
          <p:cNvSpPr/>
          <p:nvPr/>
        </p:nvSpPr>
        <p:spPr>
          <a:xfrm>
            <a:off x="812800" y="2596158"/>
            <a:ext cx="3556000" cy="2595662"/>
          </a:xfrm>
          <a:prstGeom prst="roundRect">
            <a:avLst>
              <a:gd name="adj" fmla="val 3914"/>
            </a:avLst>
          </a:prstGeom>
          <a:solidFill>
            <a:srgbClr val="1F4E4A"/>
          </a:solidFill>
          <a:ln/>
        </p:spPr>
      </p:sp>
      <p:sp>
        <p:nvSpPr>
          <p:cNvPr id="4" name="Text 2"/>
          <p:cNvSpPr/>
          <p:nvPr/>
        </p:nvSpPr>
        <p:spPr>
          <a:xfrm>
            <a:off x="1066800" y="2850158"/>
            <a:ext cx="313944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D3B3"/>
                </a:solidFill>
                <a:latin typeface="DM Sans" pitchFamily="34" charset="0"/>
                <a:ea typeface="DM Sans" pitchFamily="34" charset="-122"/>
                <a:cs typeface="DM Sans" pitchFamily="34" charset="-120"/>
              </a:rPr>
              <a:t>Primary segment: Neha, 34</a:t>
            </a:r>
            <a:endParaRPr lang="en-US" sz="1600" dirty="0"/>
          </a:p>
        </p:txBody>
      </p:sp>
      <p:sp>
        <p:nvSpPr>
          <p:cNvPr id="5" name="Text 3"/>
          <p:cNvSpPr/>
          <p:nvPr/>
        </p:nvSpPr>
        <p:spPr>
          <a:xfrm>
            <a:off x="1066800" y="3195588"/>
            <a:ext cx="3139440" cy="176763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EEE4"/>
                </a:solidFill>
                <a:latin typeface="DM Sans" pitchFamily="34" charset="0"/>
                <a:ea typeface="DM Sans" pitchFamily="34" charset="-122"/>
                <a:cs typeface="DM Sans" pitchFamily="34" charset="-120"/>
              </a:rPr>
              <a:t>Product manager in a Kharghar housing society, household income about ₹20 lakh. Buys handmade décor and gifts about 8 times a year, pays ₹200+ shipping on ₹1,200 baskets, and trusts her neighbours' recommendations.</a:t>
            </a:r>
            <a:endParaRPr lang="en-US" sz="1400" dirty="0"/>
          </a:p>
        </p:txBody>
      </p:sp>
      <p:sp>
        <p:nvSpPr>
          <p:cNvPr id="6" name="Text 4"/>
          <p:cNvSpPr/>
          <p:nvPr/>
        </p:nvSpPr>
        <p:spPr>
          <a:xfrm>
            <a:off x="812800" y="5344220"/>
            <a:ext cx="366268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347"/>
                </a:solidFill>
                <a:latin typeface="DM Sans" pitchFamily="34" charset="0"/>
                <a:ea typeface="DM Sans" pitchFamily="34" charset="-122"/>
                <a:cs typeface="DM Sans" pitchFamily="34" charset="-120"/>
              </a:rPr>
              <a:t>Secondary: gifting buyers. Tertiary: cafés, studios and boutique stays.</a:t>
            </a:r>
            <a:endParaRPr lang="en-US" sz="1400" dirty="0"/>
          </a:p>
        </p:txBody>
      </p:sp>
      <p:sp>
        <p:nvSpPr>
          <p:cNvPr id="7" name="Shape 5"/>
          <p:cNvSpPr/>
          <p:nvPr/>
        </p:nvSpPr>
        <p:spPr>
          <a:xfrm>
            <a:off x="4673600" y="2956173"/>
            <a:ext cx="6705600" cy="0"/>
          </a:xfrm>
          <a:prstGeom prst="line">
            <a:avLst/>
          </a:prstGeom>
          <a:noFill/>
          <a:ln w="19050">
            <a:solidFill>
              <a:srgbClr val="B4532A"/>
            </a:solidFill>
            <a:prstDash val="solid"/>
          </a:ln>
        </p:spPr>
      </p:sp>
      <p:sp>
        <p:nvSpPr>
          <p:cNvPr id="8" name="Text 6"/>
          <p:cNvSpPr/>
          <p:nvPr/>
        </p:nvSpPr>
        <p:spPr>
          <a:xfrm>
            <a:off x="4673600" y="2596158"/>
            <a:ext cx="334873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532A"/>
                </a:solidFill>
                <a:latin typeface="DM Sans" pitchFamily="34" charset="0"/>
                <a:ea typeface="DM Sans" pitchFamily="34" charset="-122"/>
                <a:cs typeface="DM Sans" pitchFamily="34" charset="-120"/>
              </a:rPr>
              <a:t>Customer pain</a:t>
            </a:r>
            <a:endParaRPr lang="en-US" sz="1400" dirty="0"/>
          </a:p>
        </p:txBody>
      </p:sp>
      <p:sp>
        <p:nvSpPr>
          <p:cNvPr id="9" name="Text 7"/>
          <p:cNvSpPr/>
          <p:nvPr/>
        </p:nvSpPr>
        <p:spPr>
          <a:xfrm>
            <a:off x="8128000" y="2596158"/>
            <a:ext cx="3348736"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532A"/>
                </a:solidFill>
                <a:latin typeface="DM Sans" pitchFamily="34" charset="0"/>
                <a:ea typeface="DM Sans" pitchFamily="34" charset="-122"/>
                <a:cs typeface="DM Sans" pitchFamily="34" charset="-120"/>
              </a:rPr>
              <a:t>CraftCircle answer</a:t>
            </a:r>
            <a:endParaRPr lang="en-US" sz="1400" dirty="0"/>
          </a:p>
        </p:txBody>
      </p:sp>
      <p:sp>
        <p:nvSpPr>
          <p:cNvPr id="10" name="Shape 8"/>
          <p:cNvSpPr/>
          <p:nvPr/>
        </p:nvSpPr>
        <p:spPr>
          <a:xfrm>
            <a:off x="4673600" y="3507978"/>
            <a:ext cx="6705600" cy="0"/>
          </a:xfrm>
          <a:prstGeom prst="line">
            <a:avLst/>
          </a:prstGeom>
          <a:noFill/>
          <a:ln w="12700">
            <a:solidFill>
              <a:srgbClr val="D8CBB8"/>
            </a:solidFill>
            <a:prstDash val="solid"/>
          </a:ln>
        </p:spPr>
      </p:sp>
      <p:sp>
        <p:nvSpPr>
          <p:cNvPr id="11" name="Text 9"/>
          <p:cNvSpPr/>
          <p:nvPr/>
        </p:nvSpPr>
        <p:spPr>
          <a:xfrm>
            <a:off x="4673600" y="3118098"/>
            <a:ext cx="33487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₹225 shipping on a ₹1,500 basket</a:t>
            </a:r>
            <a:endParaRPr lang="en-US" sz="1400" dirty="0"/>
          </a:p>
        </p:txBody>
      </p:sp>
      <p:sp>
        <p:nvSpPr>
          <p:cNvPr id="12" name="Text 10"/>
          <p:cNvSpPr/>
          <p:nvPr/>
        </p:nvSpPr>
        <p:spPr>
          <a:xfrm>
            <a:off x="8128000" y="3118098"/>
            <a:ext cx="33487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₹87.50 through pooled shipping</a:t>
            </a:r>
            <a:endParaRPr lang="en-US" sz="1400" dirty="0"/>
          </a:p>
        </p:txBody>
      </p:sp>
      <p:sp>
        <p:nvSpPr>
          <p:cNvPr id="13" name="Shape 11"/>
          <p:cNvSpPr/>
          <p:nvPr/>
        </p:nvSpPr>
        <p:spPr>
          <a:xfrm>
            <a:off x="4673600" y="4056608"/>
            <a:ext cx="6705600" cy="0"/>
          </a:xfrm>
          <a:prstGeom prst="line">
            <a:avLst/>
          </a:prstGeom>
          <a:noFill/>
          <a:ln w="12700">
            <a:solidFill>
              <a:srgbClr val="D8CBB8"/>
            </a:solidFill>
            <a:prstDash val="solid"/>
          </a:ln>
        </p:spPr>
      </p:sp>
      <p:sp>
        <p:nvSpPr>
          <p:cNvPr id="14" name="Text 12"/>
          <p:cNvSpPr/>
          <p:nvPr/>
        </p:nvSpPr>
        <p:spPr>
          <a:xfrm>
            <a:off x="4673600" y="3666728"/>
            <a:ext cx="33487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Several parcels on different dates</a:t>
            </a:r>
            <a:endParaRPr lang="en-US" sz="1400" dirty="0"/>
          </a:p>
        </p:txBody>
      </p:sp>
      <p:sp>
        <p:nvSpPr>
          <p:cNvPr id="15" name="Text 13"/>
          <p:cNvSpPr/>
          <p:nvPr/>
        </p:nvSpPr>
        <p:spPr>
          <a:xfrm>
            <a:off x="8128000" y="3666728"/>
            <a:ext cx="33487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One delivery per order window</a:t>
            </a:r>
            <a:endParaRPr lang="en-US" sz="1400" dirty="0"/>
          </a:p>
        </p:txBody>
      </p:sp>
      <p:sp>
        <p:nvSpPr>
          <p:cNvPr id="16" name="Shape 14"/>
          <p:cNvSpPr/>
          <p:nvPr/>
        </p:nvSpPr>
        <p:spPr>
          <a:xfrm>
            <a:off x="4673600" y="4836368"/>
            <a:ext cx="6705600" cy="0"/>
          </a:xfrm>
          <a:prstGeom prst="line">
            <a:avLst/>
          </a:prstGeom>
          <a:noFill/>
          <a:ln w="12700">
            <a:solidFill>
              <a:srgbClr val="D8CBB8"/>
            </a:solidFill>
            <a:prstDash val="solid"/>
          </a:ln>
        </p:spPr>
      </p:sp>
      <p:sp>
        <p:nvSpPr>
          <p:cNvPr id="17" name="Text 15"/>
          <p:cNvSpPr/>
          <p:nvPr/>
        </p:nvSpPr>
        <p:spPr>
          <a:xfrm>
            <a:off x="4673600" y="4215358"/>
            <a:ext cx="3348736"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Doubts about quality</a:t>
            </a:r>
            <a:endParaRPr lang="en-US" sz="1400" dirty="0"/>
          </a:p>
        </p:txBody>
      </p:sp>
      <p:sp>
        <p:nvSpPr>
          <p:cNvPr id="18" name="Text 16"/>
          <p:cNvSpPr/>
          <p:nvPr/>
        </p:nvSpPr>
        <p:spPr>
          <a:xfrm>
            <a:off x="8128000" y="4215358"/>
            <a:ext cx="3348736"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Verified artisans, hub quality check, replacement promise</a:t>
            </a:r>
            <a:endParaRPr lang="en-US" sz="1400" dirty="0"/>
          </a:p>
        </p:txBody>
      </p:sp>
      <p:sp>
        <p:nvSpPr>
          <p:cNvPr id="19" name="Shape 17"/>
          <p:cNvSpPr/>
          <p:nvPr/>
        </p:nvSpPr>
        <p:spPr>
          <a:xfrm>
            <a:off x="4673600" y="5384998"/>
            <a:ext cx="6705600" cy="0"/>
          </a:xfrm>
          <a:prstGeom prst="line">
            <a:avLst/>
          </a:prstGeom>
          <a:noFill/>
          <a:ln w="12700">
            <a:solidFill>
              <a:srgbClr val="D8CBB8"/>
            </a:solidFill>
            <a:prstDash val="solid"/>
          </a:ln>
        </p:spPr>
      </p:sp>
      <p:sp>
        <p:nvSpPr>
          <p:cNvPr id="20" name="Text 18"/>
          <p:cNvSpPr/>
          <p:nvPr/>
        </p:nvSpPr>
        <p:spPr>
          <a:xfrm>
            <a:off x="4673600" y="4995118"/>
            <a:ext cx="33487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Hard to find local artisans</a:t>
            </a:r>
            <a:endParaRPr lang="en-US" sz="1400" dirty="0"/>
          </a:p>
        </p:txBody>
      </p:sp>
      <p:sp>
        <p:nvSpPr>
          <p:cNvPr id="21" name="Text 19"/>
          <p:cNvSpPr/>
          <p:nvPr/>
        </p:nvSpPr>
        <p:spPr>
          <a:xfrm>
            <a:off x="8128000" y="4995118"/>
            <a:ext cx="334873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2A2521"/>
                </a:solidFill>
                <a:latin typeface="DM Sans" pitchFamily="34" charset="0"/>
                <a:ea typeface="DM Sans" pitchFamily="34" charset="-122"/>
                <a:cs typeface="DM Sans" pitchFamily="34" charset="-120"/>
              </a:rPr>
              <a:t>Curated catalogue with maker stories</a:t>
            </a:r>
            <a:endParaRPr lang="en-US" sz="14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Persona is illustrative · Value Proposition Canvas summary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EE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A2521"/>
                </a:solidFill>
                <a:latin typeface="Fraunces" pitchFamily="18" charset="0"/>
                <a:ea typeface="Fraunces" pitchFamily="18" charset="-122"/>
                <a:cs typeface="Fraunces" pitchFamily="18" charset="-120"/>
              </a:rPr>
              <a:t>How the club runs</a:t>
            </a:r>
            <a:endParaRPr lang="en-US" sz="3600" dirty="0"/>
          </a:p>
        </p:txBody>
      </p:sp>
      <p:sp>
        <p:nvSpPr>
          <p:cNvPr id="3" name="Shape 1"/>
          <p:cNvSpPr/>
          <p:nvPr/>
        </p:nvSpPr>
        <p:spPr>
          <a:xfrm>
            <a:off x="819150" y="1979017"/>
            <a:ext cx="3373934" cy="1305520"/>
          </a:xfrm>
          <a:prstGeom prst="roundRect">
            <a:avLst>
              <a:gd name="adj" fmla="val 7296"/>
            </a:avLst>
          </a:prstGeom>
          <a:solidFill>
            <a:srgbClr val="FFFDF8"/>
          </a:solidFill>
          <a:ln w="12700">
            <a:solidFill>
              <a:srgbClr val="D8CBB8"/>
            </a:solidFill>
            <a:prstDash val="solid"/>
          </a:ln>
        </p:spPr>
      </p:sp>
      <p:sp>
        <p:nvSpPr>
          <p:cNvPr id="4" name="Text 2"/>
          <p:cNvSpPr/>
          <p:nvPr/>
        </p:nvSpPr>
        <p:spPr>
          <a:xfrm>
            <a:off x="1003300" y="2163167"/>
            <a:ext cx="309580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1. Members pledge</a:t>
            </a:r>
            <a:endParaRPr lang="en-US" sz="1600" dirty="0"/>
          </a:p>
        </p:txBody>
      </p:sp>
      <p:sp>
        <p:nvSpPr>
          <p:cNvPr id="5" name="Text 3"/>
          <p:cNvSpPr/>
          <p:nvPr/>
        </p:nvSpPr>
        <p:spPr>
          <a:xfrm>
            <a:off x="1003300" y="2483197"/>
            <a:ext cx="309580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2521"/>
                </a:solidFill>
                <a:latin typeface="DM Sans" pitchFamily="34" charset="0"/>
                <a:ea typeface="DM Sans" pitchFamily="34" charset="-122"/>
                <a:cs typeface="DM Sans" pitchFamily="34" charset="-120"/>
              </a:rPr>
              <a:t>Browse the catalogue and pledge items before the Sunday 8 pm cut-off.</a:t>
            </a:r>
            <a:endParaRPr lang="en-US" sz="1200" dirty="0"/>
          </a:p>
        </p:txBody>
      </p:sp>
      <p:sp>
        <p:nvSpPr>
          <p:cNvPr id="6" name="Shape 4"/>
          <p:cNvSpPr/>
          <p:nvPr/>
        </p:nvSpPr>
        <p:spPr>
          <a:xfrm>
            <a:off x="4408984" y="1979017"/>
            <a:ext cx="3373983" cy="1305520"/>
          </a:xfrm>
          <a:prstGeom prst="roundRect">
            <a:avLst>
              <a:gd name="adj" fmla="val 7296"/>
            </a:avLst>
          </a:prstGeom>
          <a:solidFill>
            <a:srgbClr val="FFFDF8"/>
          </a:solidFill>
          <a:ln w="12700">
            <a:solidFill>
              <a:srgbClr val="D8CBB8"/>
            </a:solidFill>
            <a:prstDash val="solid"/>
          </a:ln>
        </p:spPr>
      </p:sp>
      <p:sp>
        <p:nvSpPr>
          <p:cNvPr id="7" name="Text 5"/>
          <p:cNvSpPr/>
          <p:nvPr/>
        </p:nvSpPr>
        <p:spPr>
          <a:xfrm>
            <a:off x="4593134" y="2163167"/>
            <a:ext cx="30958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2. Pool confirms</a:t>
            </a:r>
            <a:endParaRPr lang="en-US" sz="1600" dirty="0"/>
          </a:p>
        </p:txBody>
      </p:sp>
      <p:sp>
        <p:nvSpPr>
          <p:cNvPr id="8" name="Text 6"/>
          <p:cNvSpPr/>
          <p:nvPr/>
        </p:nvSpPr>
        <p:spPr>
          <a:xfrm>
            <a:off x="4593134" y="2483197"/>
            <a:ext cx="309585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2521"/>
                </a:solidFill>
                <a:latin typeface="DM Sans" pitchFamily="34" charset="0"/>
                <a:ea typeface="DM Sans" pitchFamily="34" charset="-122"/>
                <a:cs typeface="DM Sans" pitchFamily="34" charset="-120"/>
              </a:rPr>
              <a:t>At ₹10,000 and 6 members, payment is captured. Otherwise the window extends once.</a:t>
            </a:r>
            <a:endParaRPr lang="en-US" sz="1200" dirty="0"/>
          </a:p>
        </p:txBody>
      </p:sp>
      <p:sp>
        <p:nvSpPr>
          <p:cNvPr id="9" name="Shape 7"/>
          <p:cNvSpPr/>
          <p:nvPr/>
        </p:nvSpPr>
        <p:spPr>
          <a:xfrm>
            <a:off x="7998867" y="1979017"/>
            <a:ext cx="3373934" cy="1305520"/>
          </a:xfrm>
          <a:prstGeom prst="roundRect">
            <a:avLst>
              <a:gd name="adj" fmla="val 7296"/>
            </a:avLst>
          </a:prstGeom>
          <a:solidFill>
            <a:srgbClr val="FFFDF8"/>
          </a:solidFill>
          <a:ln w="12700">
            <a:solidFill>
              <a:srgbClr val="D8CBB8"/>
            </a:solidFill>
            <a:prstDash val="solid"/>
          </a:ln>
        </p:spPr>
      </p:sp>
      <p:sp>
        <p:nvSpPr>
          <p:cNvPr id="10" name="Text 8"/>
          <p:cNvSpPr/>
          <p:nvPr/>
        </p:nvSpPr>
        <p:spPr>
          <a:xfrm>
            <a:off x="8183017" y="2163167"/>
            <a:ext cx="309580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3. Orders to artisans</a:t>
            </a:r>
            <a:endParaRPr lang="en-US" sz="1600" dirty="0"/>
          </a:p>
        </p:txBody>
      </p:sp>
      <p:sp>
        <p:nvSpPr>
          <p:cNvPr id="11" name="Text 9"/>
          <p:cNvSpPr/>
          <p:nvPr/>
        </p:nvSpPr>
        <p:spPr>
          <a:xfrm>
            <a:off x="8183017" y="2483197"/>
            <a:ext cx="309580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2521"/>
                </a:solidFill>
                <a:latin typeface="DM Sans" pitchFamily="34" charset="0"/>
                <a:ea typeface="DM Sans" pitchFamily="34" charset="-122"/>
                <a:cs typeface="DM Sans" pitchFamily="34" charset="-120"/>
              </a:rPr>
              <a:t>One purchase order per artisan, paid after dispatch is confirmed.</a:t>
            </a:r>
            <a:endParaRPr lang="en-US" sz="1200" dirty="0"/>
          </a:p>
        </p:txBody>
      </p:sp>
      <p:sp>
        <p:nvSpPr>
          <p:cNvPr id="12" name="Shape 10"/>
          <p:cNvSpPr/>
          <p:nvPr/>
        </p:nvSpPr>
        <p:spPr>
          <a:xfrm>
            <a:off x="819150" y="3500438"/>
            <a:ext cx="3373934" cy="1099790"/>
          </a:xfrm>
          <a:prstGeom prst="roundRect">
            <a:avLst>
              <a:gd name="adj" fmla="val 8661"/>
            </a:avLst>
          </a:prstGeom>
          <a:solidFill>
            <a:srgbClr val="FFFDF8"/>
          </a:solidFill>
          <a:ln w="12700">
            <a:solidFill>
              <a:srgbClr val="D8CBB8"/>
            </a:solidFill>
            <a:prstDash val="solid"/>
          </a:ln>
        </p:spPr>
      </p:sp>
      <p:sp>
        <p:nvSpPr>
          <p:cNvPr id="13" name="Text 11"/>
          <p:cNvSpPr/>
          <p:nvPr/>
        </p:nvSpPr>
        <p:spPr>
          <a:xfrm>
            <a:off x="1003300" y="3684588"/>
            <a:ext cx="309580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4. Artisans make, ship</a:t>
            </a:r>
            <a:endParaRPr lang="en-US" sz="1600" dirty="0"/>
          </a:p>
        </p:txBody>
      </p:sp>
      <p:sp>
        <p:nvSpPr>
          <p:cNvPr id="14" name="Text 12"/>
          <p:cNvSpPr/>
          <p:nvPr/>
        </p:nvSpPr>
        <p:spPr>
          <a:xfrm>
            <a:off x="1003300" y="4004618"/>
            <a:ext cx="309580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2521"/>
                </a:solidFill>
                <a:latin typeface="DM Sans" pitchFamily="34" charset="0"/>
                <a:ea typeface="DM Sans" pitchFamily="34" charset="-122"/>
                <a:cs typeface="DM Sans" pitchFamily="34" charset="-120"/>
              </a:rPr>
              <a:t>Items are made or picked in 3-5 days and sent to the local hub.</a:t>
            </a:r>
            <a:endParaRPr lang="en-US" sz="1200" dirty="0"/>
          </a:p>
        </p:txBody>
      </p:sp>
      <p:sp>
        <p:nvSpPr>
          <p:cNvPr id="15" name="Shape 13"/>
          <p:cNvSpPr/>
          <p:nvPr/>
        </p:nvSpPr>
        <p:spPr>
          <a:xfrm>
            <a:off x="4408984" y="3500438"/>
            <a:ext cx="3373983" cy="1099790"/>
          </a:xfrm>
          <a:prstGeom prst="roundRect">
            <a:avLst>
              <a:gd name="adj" fmla="val 8661"/>
            </a:avLst>
          </a:prstGeom>
          <a:solidFill>
            <a:srgbClr val="FFFDF8"/>
          </a:solidFill>
          <a:ln w="12700">
            <a:solidFill>
              <a:srgbClr val="D8CBB8"/>
            </a:solidFill>
            <a:prstDash val="solid"/>
          </a:ln>
        </p:spPr>
      </p:sp>
      <p:sp>
        <p:nvSpPr>
          <p:cNvPr id="16" name="Text 14"/>
          <p:cNvSpPr/>
          <p:nvPr/>
        </p:nvSpPr>
        <p:spPr>
          <a:xfrm>
            <a:off x="4593134" y="3684588"/>
            <a:ext cx="309585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5. Hub consolidates</a:t>
            </a:r>
            <a:endParaRPr lang="en-US" sz="1600" dirty="0"/>
          </a:p>
        </p:txBody>
      </p:sp>
      <p:sp>
        <p:nvSpPr>
          <p:cNvPr id="17" name="Text 15"/>
          <p:cNvSpPr/>
          <p:nvPr/>
        </p:nvSpPr>
        <p:spPr>
          <a:xfrm>
            <a:off x="4593134" y="4004618"/>
            <a:ext cx="309585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A2521"/>
                </a:solidFill>
                <a:latin typeface="DM Sans" pitchFamily="34" charset="0"/>
                <a:ea typeface="DM Sans" pitchFamily="34" charset="-122"/>
                <a:cs typeface="DM Sans" pitchFamily="34" charset="-120"/>
              </a:rPr>
              <a:t>Quality check, then per-member packing labelled by pod.</a:t>
            </a:r>
            <a:endParaRPr lang="en-US" sz="1200" dirty="0"/>
          </a:p>
        </p:txBody>
      </p:sp>
      <p:sp>
        <p:nvSpPr>
          <p:cNvPr id="18" name="Shape 16"/>
          <p:cNvSpPr/>
          <p:nvPr/>
        </p:nvSpPr>
        <p:spPr>
          <a:xfrm>
            <a:off x="7992517" y="3494088"/>
            <a:ext cx="3386634" cy="1112490"/>
          </a:xfrm>
          <a:prstGeom prst="roundRect">
            <a:avLst>
              <a:gd name="adj" fmla="val 9133"/>
            </a:avLst>
          </a:prstGeom>
          <a:solidFill>
            <a:srgbClr val="1F4E4A"/>
          </a:solidFill>
          <a:ln/>
        </p:spPr>
      </p:sp>
      <p:sp>
        <p:nvSpPr>
          <p:cNvPr id="19" name="Text 17"/>
          <p:cNvSpPr/>
          <p:nvPr/>
        </p:nvSpPr>
        <p:spPr>
          <a:xfrm>
            <a:off x="8170317" y="3671888"/>
            <a:ext cx="3121965"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D3B3"/>
                </a:solidFill>
                <a:latin typeface="DM Sans" pitchFamily="34" charset="0"/>
                <a:ea typeface="DM Sans" pitchFamily="34" charset="-122"/>
                <a:cs typeface="DM Sans" pitchFamily="34" charset="-120"/>
              </a:rPr>
              <a:t>6. Pooled delivery</a:t>
            </a:r>
            <a:endParaRPr lang="en-US" sz="1600" dirty="0"/>
          </a:p>
        </p:txBody>
      </p:sp>
      <p:sp>
        <p:nvSpPr>
          <p:cNvPr id="20" name="Text 18"/>
          <p:cNvSpPr/>
          <p:nvPr/>
        </p:nvSpPr>
        <p:spPr>
          <a:xfrm>
            <a:off x="8170317" y="3991918"/>
            <a:ext cx="312196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4EEE4"/>
                </a:solidFill>
                <a:latin typeface="DM Sans" pitchFamily="34" charset="0"/>
                <a:ea typeface="DM Sans" pitchFamily="34" charset="-122"/>
                <a:cs typeface="DM Sans" pitchFamily="34" charset="-120"/>
              </a:rPr>
              <a:t>One shared trip for ₹700 to the pod pick-up point, with OTP at handover.</a:t>
            </a:r>
            <a:endParaRPr lang="en-US" sz="1200" dirty="0"/>
          </a:p>
        </p:txBody>
      </p:sp>
      <p:sp>
        <p:nvSpPr>
          <p:cNvPr id="21" name="Shape 19"/>
          <p:cNvSpPr/>
          <p:nvPr/>
        </p:nvSpPr>
        <p:spPr>
          <a:xfrm>
            <a:off x="812800" y="5263555"/>
            <a:ext cx="10566400" cy="578445"/>
          </a:xfrm>
          <a:prstGeom prst="roundRect">
            <a:avLst>
              <a:gd name="adj" fmla="val 17564"/>
            </a:avLst>
          </a:prstGeom>
          <a:solidFill>
            <a:srgbClr val="B4532A"/>
          </a:solidFill>
          <a:ln/>
        </p:spPr>
      </p:sp>
      <p:sp>
        <p:nvSpPr>
          <p:cNvPr id="22" name="Text 20"/>
          <p:cNvSpPr/>
          <p:nvPr/>
        </p:nvSpPr>
        <p:spPr>
          <a:xfrm>
            <a:off x="1066800" y="5441355"/>
            <a:ext cx="3313836"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DM Sans" pitchFamily="34" charset="0"/>
                <a:ea typeface="DM Sans" pitchFamily="34" charset="-122"/>
                <a:cs typeface="DM Sans" pitchFamily="34" charset="-120"/>
              </a:rPr>
              <a:t>Window:</a:t>
            </a:r>
            <a:r>
              <a:rPr lang="en-US" sz="1300" dirty="0">
                <a:solidFill>
                  <a:srgbClr val="FFFDF8"/>
                </a:solidFill>
                <a:latin typeface="DM Sans" pitchFamily="34" charset="0"/>
                <a:ea typeface="DM Sans" pitchFamily="34" charset="-122"/>
                <a:cs typeface="DM Sans" pitchFamily="34" charset="-120"/>
              </a:rPr>
              <a:t> Monday 9 am to Sunday 8 pm</a:t>
            </a:r>
            <a:endParaRPr lang="en-US" sz="1300" dirty="0"/>
          </a:p>
        </p:txBody>
      </p:sp>
      <p:sp>
        <p:nvSpPr>
          <p:cNvPr id="23" name="Text 21"/>
          <p:cNvSpPr/>
          <p:nvPr/>
        </p:nvSpPr>
        <p:spPr>
          <a:xfrm>
            <a:off x="4487317" y="5441355"/>
            <a:ext cx="3420566"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DM Sans" pitchFamily="34" charset="0"/>
                <a:ea typeface="DM Sans" pitchFamily="34" charset="-122"/>
                <a:cs typeface="DM Sans" pitchFamily="34" charset="-120"/>
              </a:rPr>
              <a:t>Membership:</a:t>
            </a:r>
            <a:r>
              <a:rPr lang="en-US" sz="1300" dirty="0">
                <a:solidFill>
                  <a:srgbClr val="FFFDF8"/>
                </a:solidFill>
                <a:latin typeface="DM Sans" pitchFamily="34" charset="0"/>
                <a:ea typeface="DM Sans" pitchFamily="34" charset="-122"/>
                <a:cs typeface="DM Sans" pitchFamily="34" charset="-120"/>
              </a:rPr>
              <a:t> ₹499 a year, ₹299 founding</a:t>
            </a:r>
            <a:endParaRPr lang="en-US" sz="1300" dirty="0"/>
          </a:p>
        </p:txBody>
      </p:sp>
      <p:sp>
        <p:nvSpPr>
          <p:cNvPr id="24" name="Text 22"/>
          <p:cNvSpPr/>
          <p:nvPr/>
        </p:nvSpPr>
        <p:spPr>
          <a:xfrm>
            <a:off x="7907883" y="5441355"/>
            <a:ext cx="3313836"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FFFDF8"/>
                </a:solidFill>
                <a:latin typeface="DM Sans" pitchFamily="34" charset="0"/>
                <a:ea typeface="DM Sans" pitchFamily="34" charset="-122"/>
                <a:cs typeface="DM Sans" pitchFamily="34" charset="-120"/>
              </a:rPr>
              <a:t>Delivery:</a:t>
            </a:r>
            <a:r>
              <a:rPr lang="en-US" sz="1300" dirty="0">
                <a:solidFill>
                  <a:srgbClr val="FFFDF8"/>
                </a:solidFill>
                <a:latin typeface="DM Sans" pitchFamily="34" charset="0"/>
                <a:ea typeface="DM Sans" pitchFamily="34" charset="-122"/>
                <a:cs typeface="DM Sans" pitchFamily="34" charset="-120"/>
              </a:rPr>
              <a:t> 7-10 days after cut-off</a:t>
            </a:r>
            <a:endParaRPr lang="en-US" sz="13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Supply chain and customer journey, summarised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EE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A2521"/>
                </a:solidFill>
                <a:latin typeface="Fraunces" pitchFamily="18" charset="0"/>
                <a:ea typeface="Fraunces" pitchFamily="18" charset="-122"/>
                <a:cs typeface="Fraunces" pitchFamily="18" charset="-120"/>
              </a:rPr>
              <a:t>Revenue, costs and break-even</a:t>
            </a:r>
            <a:endParaRPr lang="en-US" sz="3600" dirty="0"/>
          </a:p>
        </p:txBody>
      </p:sp>
      <p:sp>
        <p:nvSpPr>
          <p:cNvPr id="3" name="Text 1"/>
          <p:cNvSpPr/>
          <p:nvPr/>
        </p:nvSpPr>
        <p:spPr>
          <a:xfrm>
            <a:off x="812800" y="1952228"/>
            <a:ext cx="638352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4532A"/>
                </a:solidFill>
                <a:latin typeface="DM Sans" pitchFamily="34" charset="0"/>
                <a:ea typeface="DM Sans" pitchFamily="34" charset="-122"/>
                <a:cs typeface="DM Sans" pitchFamily="34" charset="-120"/>
              </a:rPr>
              <a:t>Per pooled order of ₹12,000</a:t>
            </a:r>
            <a:endParaRPr lang="en-US" sz="1600" dirty="0"/>
          </a:p>
        </p:txBody>
      </p:sp>
      <p:sp>
        <p:nvSpPr>
          <p:cNvPr id="4" name="Shape 2"/>
          <p:cNvSpPr/>
          <p:nvPr/>
        </p:nvSpPr>
        <p:spPr>
          <a:xfrm>
            <a:off x="819150" y="2354808"/>
            <a:ext cx="6184900" cy="2527151"/>
          </a:xfrm>
          <a:prstGeom prst="roundRect">
            <a:avLst>
              <a:gd name="adj" fmla="val 3769"/>
            </a:avLst>
          </a:prstGeom>
          <a:solidFill>
            <a:srgbClr val="FFFDF8"/>
          </a:solidFill>
          <a:ln w="12700">
            <a:solidFill>
              <a:srgbClr val="D8CBB8"/>
            </a:solidFill>
            <a:prstDash val="solid"/>
          </a:ln>
        </p:spPr>
      </p:sp>
      <p:sp>
        <p:nvSpPr>
          <p:cNvPr id="5" name="Shape 3"/>
          <p:cNvSpPr/>
          <p:nvPr/>
        </p:nvSpPr>
        <p:spPr>
          <a:xfrm>
            <a:off x="1028700" y="2921198"/>
            <a:ext cx="5765800" cy="0"/>
          </a:xfrm>
          <a:prstGeom prst="line">
            <a:avLst/>
          </a:prstGeom>
          <a:noFill/>
          <a:ln w="12700">
            <a:solidFill>
              <a:srgbClr val="D8CBB8"/>
            </a:solidFill>
            <a:prstDash val="solid"/>
          </a:ln>
        </p:spPr>
      </p:sp>
      <p:sp>
        <p:nvSpPr>
          <p:cNvPr id="6" name="Text 4"/>
          <p:cNvSpPr/>
          <p:nvPr/>
        </p:nvSpPr>
        <p:spPr>
          <a:xfrm>
            <a:off x="1028700" y="2564358"/>
            <a:ext cx="16781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521"/>
                </a:solidFill>
                <a:latin typeface="DM Sans" pitchFamily="34" charset="0"/>
                <a:ea typeface="DM Sans" pitchFamily="34" charset="-122"/>
                <a:cs typeface="DM Sans" pitchFamily="34" charset="-120"/>
              </a:rPr>
              <a:t>Commission, 12%</a:t>
            </a:r>
            <a:endParaRPr lang="en-US" sz="1400" dirty="0"/>
          </a:p>
        </p:txBody>
      </p:sp>
      <p:sp>
        <p:nvSpPr>
          <p:cNvPr id="7" name="Text 5"/>
          <p:cNvSpPr/>
          <p:nvPr/>
        </p:nvSpPr>
        <p:spPr>
          <a:xfrm>
            <a:off x="6105485" y="2564358"/>
            <a:ext cx="689015"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A2521"/>
                </a:solidFill>
                <a:latin typeface="DM Sans" pitchFamily="34" charset="0"/>
                <a:ea typeface="DM Sans" pitchFamily="34" charset="-122"/>
                <a:cs typeface="DM Sans" pitchFamily="34" charset="-120"/>
              </a:rPr>
              <a:t>₹1,440</a:t>
            </a:r>
            <a:endParaRPr lang="en-US" sz="1400" dirty="0"/>
          </a:p>
        </p:txBody>
      </p:sp>
      <p:sp>
        <p:nvSpPr>
          <p:cNvPr id="8" name="Shape 6"/>
          <p:cNvSpPr/>
          <p:nvPr/>
        </p:nvSpPr>
        <p:spPr>
          <a:xfrm>
            <a:off x="1028700" y="3385989"/>
            <a:ext cx="5765800" cy="0"/>
          </a:xfrm>
          <a:prstGeom prst="line">
            <a:avLst/>
          </a:prstGeom>
          <a:noFill/>
          <a:ln w="12700">
            <a:solidFill>
              <a:srgbClr val="D8CBB8"/>
            </a:solidFill>
            <a:prstDash val="solid"/>
          </a:ln>
        </p:spPr>
      </p:sp>
      <p:sp>
        <p:nvSpPr>
          <p:cNvPr id="9" name="Text 7"/>
          <p:cNvSpPr/>
          <p:nvPr/>
        </p:nvSpPr>
        <p:spPr>
          <a:xfrm>
            <a:off x="1028700" y="3029148"/>
            <a:ext cx="183767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521"/>
                </a:solidFill>
                <a:latin typeface="DM Sans" pitchFamily="34" charset="0"/>
                <a:ea typeface="DM Sans" pitchFamily="34" charset="-122"/>
                <a:cs typeface="DM Sans" pitchFamily="34" charset="-120"/>
              </a:rPr>
              <a:t>Membership share</a:t>
            </a:r>
            <a:endParaRPr lang="en-US" sz="1400" dirty="0"/>
          </a:p>
        </p:txBody>
      </p:sp>
      <p:sp>
        <p:nvSpPr>
          <p:cNvPr id="10" name="Text 8"/>
          <p:cNvSpPr/>
          <p:nvPr/>
        </p:nvSpPr>
        <p:spPr>
          <a:xfrm>
            <a:off x="6277114" y="3029148"/>
            <a:ext cx="517386"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A2521"/>
                </a:solidFill>
                <a:latin typeface="DM Sans" pitchFamily="34" charset="0"/>
                <a:ea typeface="DM Sans" pitchFamily="34" charset="-122"/>
                <a:cs typeface="DM Sans" pitchFamily="34" charset="-120"/>
              </a:rPr>
              <a:t>₹333</a:t>
            </a:r>
            <a:endParaRPr lang="en-US" sz="1400" dirty="0"/>
          </a:p>
        </p:txBody>
      </p:sp>
      <p:sp>
        <p:nvSpPr>
          <p:cNvPr id="11" name="Shape 9"/>
          <p:cNvSpPr/>
          <p:nvPr/>
        </p:nvSpPr>
        <p:spPr>
          <a:xfrm>
            <a:off x="1028700" y="3850779"/>
            <a:ext cx="5765800" cy="0"/>
          </a:xfrm>
          <a:prstGeom prst="line">
            <a:avLst/>
          </a:prstGeom>
          <a:noFill/>
          <a:ln w="12700">
            <a:solidFill>
              <a:srgbClr val="D8CBB8"/>
            </a:solidFill>
            <a:prstDash val="solid"/>
          </a:ln>
        </p:spPr>
      </p:sp>
      <p:sp>
        <p:nvSpPr>
          <p:cNvPr id="12" name="Text 10"/>
          <p:cNvSpPr/>
          <p:nvPr/>
        </p:nvSpPr>
        <p:spPr>
          <a:xfrm>
            <a:off x="1028700" y="3493939"/>
            <a:ext cx="131284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521"/>
                </a:solidFill>
                <a:latin typeface="DM Sans" pitchFamily="34" charset="0"/>
                <a:ea typeface="DM Sans" pitchFamily="34" charset="-122"/>
                <a:cs typeface="DM Sans" pitchFamily="34" charset="-120"/>
              </a:rPr>
              <a:t>Total revenue</a:t>
            </a:r>
            <a:endParaRPr lang="en-US" sz="1400" dirty="0"/>
          </a:p>
        </p:txBody>
      </p:sp>
      <p:sp>
        <p:nvSpPr>
          <p:cNvPr id="13" name="Text 11"/>
          <p:cNvSpPr/>
          <p:nvPr/>
        </p:nvSpPr>
        <p:spPr>
          <a:xfrm>
            <a:off x="6177935" y="3493939"/>
            <a:ext cx="616565"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A2521"/>
                </a:solidFill>
                <a:latin typeface="DM Sans" pitchFamily="34" charset="0"/>
                <a:ea typeface="DM Sans" pitchFamily="34" charset="-122"/>
                <a:cs typeface="DM Sans" pitchFamily="34" charset="-120"/>
              </a:rPr>
              <a:t>₹1,773</a:t>
            </a:r>
            <a:endParaRPr lang="en-US" sz="1400" dirty="0"/>
          </a:p>
        </p:txBody>
      </p:sp>
      <p:sp>
        <p:nvSpPr>
          <p:cNvPr id="14" name="Shape 12"/>
          <p:cNvSpPr/>
          <p:nvPr/>
        </p:nvSpPr>
        <p:spPr>
          <a:xfrm>
            <a:off x="1028700" y="4315569"/>
            <a:ext cx="5765800" cy="0"/>
          </a:xfrm>
          <a:prstGeom prst="line">
            <a:avLst/>
          </a:prstGeom>
          <a:noFill/>
          <a:ln w="12700">
            <a:solidFill>
              <a:srgbClr val="D8CBB8"/>
            </a:solidFill>
            <a:prstDash val="solid"/>
          </a:ln>
        </p:spPr>
      </p:sp>
      <p:sp>
        <p:nvSpPr>
          <p:cNvPr id="15" name="Text 13"/>
          <p:cNvSpPr/>
          <p:nvPr/>
        </p:nvSpPr>
        <p:spPr>
          <a:xfrm>
            <a:off x="1028700" y="3958729"/>
            <a:ext cx="139392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2521"/>
                </a:solidFill>
                <a:latin typeface="DM Sans" pitchFamily="34" charset="0"/>
                <a:ea typeface="DM Sans" pitchFamily="34" charset="-122"/>
                <a:cs typeface="DM Sans" pitchFamily="34" charset="-120"/>
              </a:rPr>
              <a:t>Variable costs</a:t>
            </a:r>
            <a:endParaRPr lang="en-US" sz="1400" dirty="0"/>
          </a:p>
        </p:txBody>
      </p:sp>
      <p:sp>
        <p:nvSpPr>
          <p:cNvPr id="16" name="Text 14"/>
          <p:cNvSpPr/>
          <p:nvPr/>
        </p:nvSpPr>
        <p:spPr>
          <a:xfrm>
            <a:off x="6154301" y="3958729"/>
            <a:ext cx="640199"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2A2521"/>
                </a:solidFill>
                <a:latin typeface="DM Sans" pitchFamily="34" charset="0"/>
                <a:ea typeface="DM Sans" pitchFamily="34" charset="-122"/>
                <a:cs typeface="DM Sans" pitchFamily="34" charset="-120"/>
              </a:rPr>
              <a:t>-₹764</a:t>
            </a:r>
            <a:endParaRPr lang="en-US" sz="1400" dirty="0"/>
          </a:p>
        </p:txBody>
      </p:sp>
      <p:sp>
        <p:nvSpPr>
          <p:cNvPr id="17" name="Text 15"/>
          <p:cNvSpPr/>
          <p:nvPr/>
        </p:nvSpPr>
        <p:spPr>
          <a:xfrm>
            <a:off x="1028700" y="4423519"/>
            <a:ext cx="2070259"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4A"/>
                </a:solidFill>
                <a:latin typeface="DM Sans" pitchFamily="34" charset="0"/>
                <a:ea typeface="DM Sans" pitchFamily="34" charset="-122"/>
                <a:cs typeface="DM Sans" pitchFamily="34" charset="-120"/>
              </a:rPr>
              <a:t>Contribution (8.4%)</a:t>
            </a:r>
            <a:endParaRPr lang="en-US" sz="1400" dirty="0"/>
          </a:p>
        </p:txBody>
      </p:sp>
      <p:sp>
        <p:nvSpPr>
          <p:cNvPr id="18" name="Text 16"/>
          <p:cNvSpPr/>
          <p:nvPr/>
        </p:nvSpPr>
        <p:spPr>
          <a:xfrm>
            <a:off x="6097627" y="4423519"/>
            <a:ext cx="696873" cy="27429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1F4E4A"/>
                </a:solidFill>
                <a:latin typeface="DM Sans" pitchFamily="34" charset="0"/>
                <a:ea typeface="DM Sans" pitchFamily="34" charset="-122"/>
                <a:cs typeface="DM Sans" pitchFamily="34" charset="-120"/>
              </a:rPr>
              <a:t>₹1,009</a:t>
            </a:r>
            <a:endParaRPr lang="en-US" sz="1400" dirty="0"/>
          </a:p>
        </p:txBody>
      </p:sp>
      <p:sp>
        <p:nvSpPr>
          <p:cNvPr id="19" name="Text 17"/>
          <p:cNvSpPr/>
          <p:nvPr/>
        </p:nvSpPr>
        <p:spPr>
          <a:xfrm>
            <a:off x="812800" y="5040709"/>
            <a:ext cx="6197600" cy="801291"/>
          </a:xfrm>
          <a:prstGeom prst="roundRect">
            <a:avLst>
              <a:gd name="adj" fmla="val 12680"/>
            </a:avLst>
          </a:prstGeom>
          <a:solidFill>
            <a:srgbClr val="1F4E4A"/>
          </a:solidFill>
          <a:ln/>
        </p:spPr>
        <p:txBody>
          <a:bodyPr wrap="square" lIns="173442" tIns="148042" rIns="0" bIns="122642" rtlCol="0" anchor="t">
            <a:normAutofit/>
          </a:bodyPr>
          <a:lstStyle/>
          <a:p>
            <a:pPr algn="l" indent="0" marL="0">
              <a:lnSpc>
                <a:spcPts val="1755"/>
              </a:lnSpc>
              <a:buNone/>
            </a:pPr>
            <a:r>
              <a:rPr lang="en-US" sz="1300" dirty="0">
                <a:solidFill>
                  <a:srgbClr val="F4EEE4"/>
                </a:solidFill>
                <a:latin typeface="DM Sans" pitchFamily="34" charset="0"/>
                <a:ea typeface="DM Sans" pitchFamily="34" charset="-122"/>
                <a:cs typeface="DM Sans" pitchFamily="34" charset="-120"/>
              </a:rPr>
              <a:t>A member saves ₹225 - ₹87.50 = ₹137.50 per order, so the ₹499 fee pays back in about 4 orders.</a:t>
            </a:r>
            <a:endParaRPr lang="en-US" sz="1300" dirty="0"/>
          </a:p>
        </p:txBody>
      </p:sp>
      <p:sp>
        <p:nvSpPr>
          <p:cNvPr id="20" name="Shape 18"/>
          <p:cNvSpPr/>
          <p:nvPr/>
        </p:nvSpPr>
        <p:spPr>
          <a:xfrm>
            <a:off x="7315200" y="1952228"/>
            <a:ext cx="4064000" cy="1017240"/>
          </a:xfrm>
          <a:prstGeom prst="roundRect">
            <a:avLst>
              <a:gd name="adj" fmla="val 9988"/>
            </a:avLst>
          </a:prstGeom>
          <a:solidFill>
            <a:srgbClr val="B4532A"/>
          </a:solidFill>
          <a:ln/>
        </p:spPr>
      </p:sp>
      <p:sp>
        <p:nvSpPr>
          <p:cNvPr id="21" name="Text 19"/>
          <p:cNvSpPr/>
          <p:nvPr/>
        </p:nvSpPr>
        <p:spPr>
          <a:xfrm>
            <a:off x="7518400" y="2104628"/>
            <a:ext cx="3767328"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FFFDF8"/>
                </a:solidFill>
                <a:latin typeface="Fraunces" pitchFamily="18" charset="0"/>
                <a:ea typeface="Fraunces" pitchFamily="18" charset="-122"/>
                <a:cs typeface="Fraunces" pitchFamily="18" charset="-120"/>
              </a:rPr>
              <a:t>36 orders</a:t>
            </a:r>
            <a:endParaRPr lang="en-US" sz="3200" dirty="0"/>
          </a:p>
        </p:txBody>
      </p:sp>
      <p:sp>
        <p:nvSpPr>
          <p:cNvPr id="22" name="Text 20"/>
          <p:cNvSpPr/>
          <p:nvPr/>
        </p:nvSpPr>
        <p:spPr>
          <a:xfrm>
            <a:off x="7518400" y="2602458"/>
            <a:ext cx="3767328"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DF8"/>
                </a:solidFill>
                <a:latin typeface="DM Sans" pitchFamily="34" charset="0"/>
                <a:ea typeface="DM Sans" pitchFamily="34" charset="-122"/>
                <a:cs typeface="DM Sans" pitchFamily="34" charset="-120"/>
              </a:rPr>
              <a:t>a month to break even (₹36,000 ÷ ₹1,009)</a:t>
            </a:r>
            <a:endParaRPr lang="en-US" sz="1300" dirty="0"/>
          </a:p>
        </p:txBody>
      </p:sp>
      <p:sp>
        <p:nvSpPr>
          <p:cNvPr id="23" name="Shape 21"/>
          <p:cNvSpPr/>
          <p:nvPr/>
        </p:nvSpPr>
        <p:spPr>
          <a:xfrm>
            <a:off x="7321550" y="3102818"/>
            <a:ext cx="4051300" cy="1029940"/>
          </a:xfrm>
          <a:prstGeom prst="roundRect">
            <a:avLst>
              <a:gd name="adj" fmla="val 9248"/>
            </a:avLst>
          </a:prstGeom>
          <a:solidFill>
            <a:srgbClr val="FFFDF8"/>
          </a:solidFill>
          <a:ln w="12700">
            <a:solidFill>
              <a:srgbClr val="D8CBB8"/>
            </a:solidFill>
            <a:prstDash val="solid"/>
          </a:ln>
        </p:spPr>
      </p:sp>
      <p:sp>
        <p:nvSpPr>
          <p:cNvPr id="24" name="Text 22"/>
          <p:cNvSpPr/>
          <p:nvPr/>
        </p:nvSpPr>
        <p:spPr>
          <a:xfrm>
            <a:off x="7531100" y="3261568"/>
            <a:ext cx="3741166"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A2521"/>
                </a:solidFill>
                <a:latin typeface="Fraunces" pitchFamily="18" charset="0"/>
                <a:ea typeface="Fraunces" pitchFamily="18" charset="-122"/>
                <a:cs typeface="Fraunces" pitchFamily="18" charset="-120"/>
              </a:rPr>
              <a:t>62 orders</a:t>
            </a:r>
            <a:endParaRPr lang="en-US" sz="3200" dirty="0"/>
          </a:p>
        </p:txBody>
      </p:sp>
      <p:sp>
        <p:nvSpPr>
          <p:cNvPr id="25" name="Text 23"/>
          <p:cNvSpPr/>
          <p:nvPr/>
        </p:nvSpPr>
        <p:spPr>
          <a:xfrm>
            <a:off x="7531100" y="3759398"/>
            <a:ext cx="3741166"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5347"/>
                </a:solidFill>
                <a:latin typeface="DM Sans" pitchFamily="34" charset="0"/>
                <a:ea typeface="DM Sans" pitchFamily="34" charset="-122"/>
                <a:cs typeface="DM Sans" pitchFamily="34" charset="-120"/>
              </a:rPr>
              <a:t>in 90 days, ₹7.44 lakh of order value</a:t>
            </a:r>
            <a:endParaRPr lang="en-US" sz="1300" dirty="0"/>
          </a:p>
        </p:txBody>
      </p:sp>
      <p:sp>
        <p:nvSpPr>
          <p:cNvPr id="26" name="Shape 24"/>
          <p:cNvSpPr/>
          <p:nvPr/>
        </p:nvSpPr>
        <p:spPr>
          <a:xfrm>
            <a:off x="7321550" y="4272459"/>
            <a:ext cx="4051300" cy="1244550"/>
          </a:xfrm>
          <a:prstGeom prst="roundRect">
            <a:avLst>
              <a:gd name="adj" fmla="val 7653"/>
            </a:avLst>
          </a:prstGeom>
          <a:solidFill>
            <a:srgbClr val="FFFDF8"/>
          </a:solidFill>
          <a:ln w="12700">
            <a:solidFill>
              <a:srgbClr val="D8CBB8"/>
            </a:solidFill>
            <a:prstDash val="solid"/>
          </a:ln>
        </p:spPr>
      </p:sp>
      <p:sp>
        <p:nvSpPr>
          <p:cNvPr id="27" name="Text 25"/>
          <p:cNvSpPr/>
          <p:nvPr/>
        </p:nvSpPr>
        <p:spPr>
          <a:xfrm>
            <a:off x="7531100" y="4431209"/>
            <a:ext cx="3741166"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A2521"/>
                </a:solidFill>
                <a:latin typeface="Fraunces" pitchFamily="18" charset="0"/>
                <a:ea typeface="Fraunces" pitchFamily="18" charset="-122"/>
                <a:cs typeface="Fraunces" pitchFamily="18" charset="-120"/>
              </a:rPr>
              <a:t>₹1.05 lakh</a:t>
            </a:r>
            <a:endParaRPr lang="en-US" sz="3200" dirty="0"/>
          </a:p>
        </p:txBody>
      </p:sp>
      <p:sp>
        <p:nvSpPr>
          <p:cNvPr id="28" name="Text 26"/>
          <p:cNvSpPr/>
          <p:nvPr/>
        </p:nvSpPr>
        <p:spPr>
          <a:xfrm>
            <a:off x="7531100" y="4929039"/>
            <a:ext cx="374116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5347"/>
                </a:solidFill>
                <a:latin typeface="DM Sans" pitchFamily="34" charset="0"/>
                <a:ea typeface="DM Sans" pitchFamily="34" charset="-122"/>
                <a:cs typeface="DM Sans" pitchFamily="34" charset="-120"/>
              </a:rPr>
              <a:t>peak funding need, with ₹60,000 launch budget</a:t>
            </a:r>
            <a:endParaRPr lang="en-US" sz="1300" dirty="0"/>
          </a:p>
        </p:txBody>
      </p:sp>
      <p:sp>
        <p:nvSpPr>
          <p:cNvPr id="29" name="Text 2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Assumes 8 members per pooled order and one order a month per member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EEE4"/>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A2521"/>
                </a:solidFill>
                <a:latin typeface="Fraunces" pitchFamily="18" charset="0"/>
                <a:ea typeface="Fraunces" pitchFamily="18" charset="-122"/>
                <a:cs typeface="Fraunces" pitchFamily="18" charset="-120"/>
              </a:rPr>
              <a:t>SWOT and risks</a:t>
            </a:r>
            <a:endParaRPr lang="en-US" sz="3600" dirty="0"/>
          </a:p>
        </p:txBody>
      </p:sp>
      <p:sp>
        <p:nvSpPr>
          <p:cNvPr id="3" name="Shape 1"/>
          <p:cNvSpPr/>
          <p:nvPr/>
        </p:nvSpPr>
        <p:spPr>
          <a:xfrm>
            <a:off x="812800" y="1809899"/>
            <a:ext cx="2514600" cy="1254671"/>
          </a:xfrm>
          <a:prstGeom prst="roundRect">
            <a:avLst>
              <a:gd name="adj" fmla="val 8098"/>
            </a:avLst>
          </a:prstGeom>
          <a:solidFill>
            <a:srgbClr val="1F4E4A"/>
          </a:solidFill>
          <a:ln/>
        </p:spPr>
      </p:sp>
      <p:sp>
        <p:nvSpPr>
          <p:cNvPr id="4" name="Text 2"/>
          <p:cNvSpPr/>
          <p:nvPr/>
        </p:nvSpPr>
        <p:spPr>
          <a:xfrm>
            <a:off x="990600" y="1987699"/>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D3B3"/>
                </a:solidFill>
                <a:latin typeface="DM Sans" pitchFamily="34" charset="0"/>
                <a:ea typeface="DM Sans" pitchFamily="34" charset="-122"/>
                <a:cs typeface="DM Sans" pitchFamily="34" charset="-120"/>
              </a:rPr>
              <a:t>Strengths</a:t>
            </a:r>
            <a:endParaRPr lang="en-US" sz="1500" dirty="0"/>
          </a:p>
        </p:txBody>
      </p:sp>
      <p:sp>
        <p:nvSpPr>
          <p:cNvPr id="5" name="Text 3"/>
          <p:cNvSpPr/>
          <p:nvPr/>
        </p:nvSpPr>
        <p:spPr>
          <a:xfrm>
            <a:off x="990600" y="2267099"/>
            <a:ext cx="222377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4EEE4"/>
                </a:solidFill>
                <a:latin typeface="DM Sans" pitchFamily="34" charset="0"/>
                <a:ea typeface="DM Sans" pitchFamily="34" charset="-122"/>
                <a:cs typeface="DM Sans" pitchFamily="34" charset="-120"/>
              </a:rPr>
              <a:t>61% cheaper logistics</a:t>
            </a:r>
            <a:endParaRPr lang="en-US" sz="1200" dirty="0"/>
          </a:p>
          <a:p>
            <a:pPr algn="l" indent="0" marL="0">
              <a:lnSpc>
                <a:spcPts val="1560"/>
              </a:lnSpc>
              <a:buNone/>
            </a:pPr>
            <a:r>
              <a:rPr lang="en-US" sz="1200" dirty="0">
                <a:solidFill>
                  <a:srgbClr val="F4EEE4"/>
                </a:solidFill>
                <a:latin typeface="DM Sans" pitchFamily="34" charset="0"/>
                <a:ea typeface="DM Sans" pitchFamily="34" charset="-122"/>
                <a:cs typeface="DM Sans" pitchFamily="34" charset="-120"/>
              </a:rPr>
              <a:t>Prepaid, batched orders</a:t>
            </a:r>
            <a:endParaRPr lang="en-US" sz="1200" dirty="0"/>
          </a:p>
          <a:p>
            <a:pPr algn="l" indent="0" marL="0">
              <a:lnSpc>
                <a:spcPts val="1560"/>
              </a:lnSpc>
              <a:buNone/>
            </a:pPr>
            <a:r>
              <a:rPr lang="en-US" sz="1200" dirty="0">
                <a:solidFill>
                  <a:srgbClr val="F4EEE4"/>
                </a:solidFill>
                <a:latin typeface="DM Sans" pitchFamily="34" charset="0"/>
                <a:ea typeface="DM Sans" pitchFamily="34" charset="-122"/>
                <a:cs typeface="DM Sans" pitchFamily="34" charset="-120"/>
              </a:rPr>
              <a:t>Trusted neighbourhood pods</a:t>
            </a:r>
            <a:endParaRPr lang="en-US" sz="1200" dirty="0"/>
          </a:p>
        </p:txBody>
      </p:sp>
      <p:sp>
        <p:nvSpPr>
          <p:cNvPr id="6" name="Shape 4"/>
          <p:cNvSpPr/>
          <p:nvPr/>
        </p:nvSpPr>
        <p:spPr>
          <a:xfrm>
            <a:off x="3486150" y="1816249"/>
            <a:ext cx="2527300" cy="1241971"/>
          </a:xfrm>
          <a:prstGeom prst="roundRect">
            <a:avLst>
              <a:gd name="adj" fmla="val 7669"/>
            </a:avLst>
          </a:prstGeom>
          <a:solidFill>
            <a:srgbClr val="FFFDF8"/>
          </a:solidFill>
          <a:ln w="12700">
            <a:solidFill>
              <a:srgbClr val="D8CBB8"/>
            </a:solidFill>
            <a:prstDash val="solid"/>
          </a:ln>
        </p:spPr>
      </p:sp>
      <p:sp>
        <p:nvSpPr>
          <p:cNvPr id="7" name="Text 5"/>
          <p:cNvSpPr/>
          <p:nvPr/>
        </p:nvSpPr>
        <p:spPr>
          <a:xfrm>
            <a:off x="3670300" y="2000399"/>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4532A"/>
                </a:solidFill>
                <a:latin typeface="DM Sans" pitchFamily="34" charset="0"/>
                <a:ea typeface="DM Sans" pitchFamily="34" charset="-122"/>
                <a:cs typeface="DM Sans" pitchFamily="34" charset="-120"/>
              </a:rPr>
              <a:t>Weaknesses</a:t>
            </a:r>
            <a:endParaRPr lang="en-US" sz="1500" dirty="0"/>
          </a:p>
        </p:txBody>
      </p:sp>
      <p:sp>
        <p:nvSpPr>
          <p:cNvPr id="8" name="Text 6"/>
          <p:cNvSpPr/>
          <p:nvPr/>
        </p:nvSpPr>
        <p:spPr>
          <a:xfrm>
            <a:off x="3670300" y="2279799"/>
            <a:ext cx="222377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2521"/>
                </a:solidFill>
                <a:latin typeface="DM Sans" pitchFamily="34" charset="0"/>
                <a:ea typeface="DM Sans" pitchFamily="34" charset="-122"/>
                <a:cs typeface="DM Sans" pitchFamily="34" charset="-120"/>
              </a:rPr>
              <a:t>7-10 day delivery</a:t>
            </a:r>
            <a:endParaRPr lang="en-US" sz="1200" dirty="0"/>
          </a:p>
          <a:p>
            <a:pPr algn="l" indent="0" marL="0">
              <a:lnSpc>
                <a:spcPts val="1560"/>
              </a:lnSpc>
              <a:buNone/>
            </a:pPr>
            <a:r>
              <a:rPr lang="en-US" sz="1200" dirty="0">
                <a:solidFill>
                  <a:srgbClr val="2A2521"/>
                </a:solidFill>
                <a:latin typeface="DM Sans" pitchFamily="34" charset="0"/>
                <a:ea typeface="DM Sans" pitchFamily="34" charset="-122"/>
                <a:cs typeface="DM Sans" pitchFamily="34" charset="-120"/>
              </a:rPr>
              <a:t>Needs pool volume</a:t>
            </a:r>
            <a:endParaRPr lang="en-US" sz="1200" dirty="0"/>
          </a:p>
          <a:p>
            <a:pPr algn="l" indent="0" marL="0">
              <a:lnSpc>
                <a:spcPts val="1560"/>
              </a:lnSpc>
              <a:buNone/>
            </a:pPr>
            <a:r>
              <a:rPr lang="en-US" sz="1200" dirty="0">
                <a:solidFill>
                  <a:srgbClr val="2A2521"/>
                </a:solidFill>
                <a:latin typeface="DM Sans" pitchFamily="34" charset="0"/>
                <a:ea typeface="DM Sans" pitchFamily="34" charset="-122"/>
                <a:cs typeface="DM Sans" pitchFamily="34" charset="-120"/>
              </a:rPr>
              <a:t>New brand, small team</a:t>
            </a:r>
            <a:endParaRPr lang="en-US" sz="1200" dirty="0"/>
          </a:p>
        </p:txBody>
      </p:sp>
      <p:sp>
        <p:nvSpPr>
          <p:cNvPr id="9" name="Shape 7"/>
          <p:cNvSpPr/>
          <p:nvPr/>
        </p:nvSpPr>
        <p:spPr>
          <a:xfrm>
            <a:off x="6178550" y="1816249"/>
            <a:ext cx="2527300" cy="1241971"/>
          </a:xfrm>
          <a:prstGeom prst="roundRect">
            <a:avLst>
              <a:gd name="adj" fmla="val 7669"/>
            </a:avLst>
          </a:prstGeom>
          <a:solidFill>
            <a:srgbClr val="FFFDF8"/>
          </a:solidFill>
          <a:ln w="12700">
            <a:solidFill>
              <a:srgbClr val="D8CBB8"/>
            </a:solidFill>
            <a:prstDash val="solid"/>
          </a:ln>
        </p:spPr>
      </p:sp>
      <p:sp>
        <p:nvSpPr>
          <p:cNvPr id="10" name="Text 8"/>
          <p:cNvSpPr/>
          <p:nvPr/>
        </p:nvSpPr>
        <p:spPr>
          <a:xfrm>
            <a:off x="6362700" y="2000399"/>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4E4A"/>
                </a:solidFill>
                <a:latin typeface="DM Sans" pitchFamily="34" charset="0"/>
                <a:ea typeface="DM Sans" pitchFamily="34" charset="-122"/>
                <a:cs typeface="DM Sans" pitchFamily="34" charset="-120"/>
              </a:rPr>
              <a:t>Opportunities</a:t>
            </a:r>
            <a:endParaRPr lang="en-US" sz="1500" dirty="0"/>
          </a:p>
        </p:txBody>
      </p:sp>
      <p:sp>
        <p:nvSpPr>
          <p:cNvPr id="11" name="Text 9"/>
          <p:cNvSpPr/>
          <p:nvPr/>
        </p:nvSpPr>
        <p:spPr>
          <a:xfrm>
            <a:off x="6362700" y="2279799"/>
            <a:ext cx="222377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A2521"/>
                </a:solidFill>
                <a:latin typeface="DM Sans" pitchFamily="34" charset="0"/>
                <a:ea typeface="DM Sans" pitchFamily="34" charset="-122"/>
                <a:cs typeface="DM Sans" pitchFamily="34" charset="-120"/>
              </a:rPr>
              <a:t>Local, sustainable demand</a:t>
            </a:r>
            <a:endParaRPr lang="en-US" sz="1200" dirty="0"/>
          </a:p>
          <a:p>
            <a:pPr algn="l" indent="0" marL="0">
              <a:lnSpc>
                <a:spcPts val="1560"/>
              </a:lnSpc>
              <a:buNone/>
            </a:pPr>
            <a:r>
              <a:rPr lang="en-US" sz="1200" dirty="0">
                <a:solidFill>
                  <a:srgbClr val="2A2521"/>
                </a:solidFill>
                <a:latin typeface="DM Sans" pitchFamily="34" charset="0"/>
                <a:ea typeface="DM Sans" pitchFamily="34" charset="-122"/>
                <a:cs typeface="DM Sans" pitchFamily="34" charset="-120"/>
              </a:rPr>
              <a:t>Society WhatsApp reach</a:t>
            </a:r>
            <a:endParaRPr lang="en-US" sz="1200" dirty="0"/>
          </a:p>
          <a:p>
            <a:pPr algn="l" indent="0" marL="0">
              <a:lnSpc>
                <a:spcPts val="1560"/>
              </a:lnSpc>
              <a:buNone/>
            </a:pPr>
            <a:r>
              <a:rPr lang="en-US" sz="1200" dirty="0">
                <a:solidFill>
                  <a:srgbClr val="2A2521"/>
                </a:solidFill>
                <a:latin typeface="DM Sans" pitchFamily="34" charset="0"/>
                <a:ea typeface="DM Sans" pitchFamily="34" charset="-122"/>
                <a:cs typeface="DM Sans" pitchFamily="34" charset="-120"/>
              </a:rPr>
              <a:t>Festive and corporate gifting</a:t>
            </a:r>
            <a:endParaRPr lang="en-US" sz="1200" dirty="0"/>
          </a:p>
        </p:txBody>
      </p:sp>
      <p:sp>
        <p:nvSpPr>
          <p:cNvPr id="12" name="Shape 10"/>
          <p:cNvSpPr/>
          <p:nvPr/>
        </p:nvSpPr>
        <p:spPr>
          <a:xfrm>
            <a:off x="8864600" y="1809899"/>
            <a:ext cx="2514600" cy="1254671"/>
          </a:xfrm>
          <a:prstGeom prst="roundRect">
            <a:avLst>
              <a:gd name="adj" fmla="val 8098"/>
            </a:avLst>
          </a:prstGeom>
          <a:solidFill>
            <a:srgbClr val="B4532A"/>
          </a:solidFill>
          <a:ln/>
        </p:spPr>
      </p:sp>
      <p:sp>
        <p:nvSpPr>
          <p:cNvPr id="13" name="Text 11"/>
          <p:cNvSpPr/>
          <p:nvPr/>
        </p:nvSpPr>
        <p:spPr>
          <a:xfrm>
            <a:off x="9042400" y="1987699"/>
            <a:ext cx="222377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FFDF8"/>
                </a:solidFill>
                <a:latin typeface="DM Sans" pitchFamily="34" charset="0"/>
                <a:ea typeface="DM Sans" pitchFamily="34" charset="-122"/>
                <a:cs typeface="DM Sans" pitchFamily="34" charset="-120"/>
              </a:rPr>
              <a:t>Threats</a:t>
            </a:r>
            <a:endParaRPr lang="en-US" sz="1500" dirty="0"/>
          </a:p>
        </p:txBody>
      </p:sp>
      <p:sp>
        <p:nvSpPr>
          <p:cNvPr id="14" name="Text 12"/>
          <p:cNvSpPr/>
          <p:nvPr/>
        </p:nvSpPr>
        <p:spPr>
          <a:xfrm>
            <a:off x="9042400" y="2267099"/>
            <a:ext cx="2223770"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FFDF8"/>
                </a:solidFill>
                <a:latin typeface="DM Sans" pitchFamily="34" charset="0"/>
                <a:ea typeface="DM Sans" pitchFamily="34" charset="-122"/>
                <a:cs typeface="DM Sans" pitchFamily="34" charset="-120"/>
              </a:rPr>
              <a:t>Instagram sellers</a:t>
            </a:r>
            <a:endParaRPr lang="en-US" sz="1200" dirty="0"/>
          </a:p>
          <a:p>
            <a:pPr algn="l" indent="0" marL="0">
              <a:lnSpc>
                <a:spcPts val="1560"/>
              </a:lnSpc>
              <a:buNone/>
            </a:pPr>
            <a:r>
              <a:rPr lang="en-US" sz="1200" dirty="0">
                <a:solidFill>
                  <a:srgbClr val="FFFDF8"/>
                </a:solidFill>
                <a:latin typeface="DM Sans" pitchFamily="34" charset="0"/>
                <a:ea typeface="DM Sans" pitchFamily="34" charset="-122"/>
                <a:cs typeface="DM Sans" pitchFamily="34" charset="-120"/>
              </a:rPr>
              <a:t>Courier price rises</a:t>
            </a:r>
            <a:endParaRPr lang="en-US" sz="1200" dirty="0"/>
          </a:p>
          <a:p>
            <a:pPr algn="l" indent="0" marL="0">
              <a:lnSpc>
                <a:spcPts val="1560"/>
              </a:lnSpc>
              <a:buNone/>
            </a:pPr>
            <a:r>
              <a:rPr lang="en-US" sz="1200" dirty="0">
                <a:solidFill>
                  <a:srgbClr val="FFFDF8"/>
                </a:solidFill>
                <a:latin typeface="DM Sans" pitchFamily="34" charset="0"/>
                <a:ea typeface="DM Sans" pitchFamily="34" charset="-122"/>
                <a:cs typeface="DM Sans" pitchFamily="34" charset="-120"/>
              </a:rPr>
              <a:t>Artisans selling direct</a:t>
            </a:r>
            <a:endParaRPr lang="en-US" sz="1200" dirty="0"/>
          </a:p>
        </p:txBody>
      </p:sp>
      <p:sp>
        <p:nvSpPr>
          <p:cNvPr id="15" name="Shape 13"/>
          <p:cNvSpPr/>
          <p:nvPr/>
        </p:nvSpPr>
        <p:spPr>
          <a:xfrm>
            <a:off x="819150" y="3565128"/>
            <a:ext cx="10553700" cy="2270522"/>
          </a:xfrm>
          <a:prstGeom prst="roundRect">
            <a:avLst>
              <a:gd name="adj" fmla="val 4195"/>
            </a:avLst>
          </a:prstGeom>
          <a:solidFill>
            <a:srgbClr val="FFFDF8"/>
          </a:solidFill>
          <a:ln w="12700">
            <a:solidFill>
              <a:srgbClr val="D8CBB8"/>
            </a:solidFill>
            <a:prstDash val="solid"/>
          </a:ln>
        </p:spPr>
      </p:sp>
      <p:sp>
        <p:nvSpPr>
          <p:cNvPr id="16" name="Shape 14"/>
          <p:cNvSpPr/>
          <p:nvPr/>
        </p:nvSpPr>
        <p:spPr>
          <a:xfrm>
            <a:off x="1028700" y="3994348"/>
            <a:ext cx="10134600" cy="0"/>
          </a:xfrm>
          <a:prstGeom prst="line">
            <a:avLst/>
          </a:prstGeom>
          <a:noFill/>
          <a:ln w="12700">
            <a:solidFill>
              <a:srgbClr val="B4532A"/>
            </a:solidFill>
            <a:prstDash val="solid"/>
          </a:ln>
        </p:spPr>
      </p:sp>
      <p:sp>
        <p:nvSpPr>
          <p:cNvPr id="17" name="Text 15"/>
          <p:cNvSpPr/>
          <p:nvPr/>
        </p:nvSpPr>
        <p:spPr>
          <a:xfrm>
            <a:off x="1028700" y="3711178"/>
            <a:ext cx="3662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DM Sans" pitchFamily="34" charset="0"/>
                <a:ea typeface="DM Sans" pitchFamily="34" charset="-122"/>
                <a:cs typeface="DM Sans" pitchFamily="34" charset="-120"/>
              </a:rPr>
              <a:t>Risk</a:t>
            </a:r>
            <a:endParaRPr lang="en-US" sz="1200" dirty="0"/>
          </a:p>
        </p:txBody>
      </p:sp>
      <p:sp>
        <p:nvSpPr>
          <p:cNvPr id="18" name="Text 16"/>
          <p:cNvSpPr/>
          <p:nvPr/>
        </p:nvSpPr>
        <p:spPr>
          <a:xfrm>
            <a:off x="4737100" y="3711178"/>
            <a:ext cx="876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DM Sans" pitchFamily="34" charset="0"/>
                <a:ea typeface="DM Sans" pitchFamily="34" charset="-122"/>
                <a:cs typeface="DM Sans" pitchFamily="34" charset="-120"/>
              </a:rPr>
              <a:t>Impact</a:t>
            </a:r>
            <a:endParaRPr lang="en-US" sz="1200" dirty="0"/>
          </a:p>
        </p:txBody>
      </p:sp>
      <p:sp>
        <p:nvSpPr>
          <p:cNvPr id="19" name="Text 17"/>
          <p:cNvSpPr/>
          <p:nvPr/>
        </p:nvSpPr>
        <p:spPr>
          <a:xfrm>
            <a:off x="5715000" y="3711178"/>
            <a:ext cx="561174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2A"/>
                </a:solidFill>
                <a:latin typeface="DM Sans" pitchFamily="34" charset="0"/>
                <a:ea typeface="DM Sans" pitchFamily="34" charset="-122"/>
                <a:cs typeface="DM Sans" pitchFamily="34" charset="-120"/>
              </a:rPr>
              <a:t>Mitigation</a:t>
            </a:r>
            <a:endParaRPr lang="en-US" sz="1200" dirty="0"/>
          </a:p>
        </p:txBody>
      </p:sp>
      <p:sp>
        <p:nvSpPr>
          <p:cNvPr id="20" name="Shape 18"/>
          <p:cNvSpPr/>
          <p:nvPr/>
        </p:nvSpPr>
        <p:spPr>
          <a:xfrm>
            <a:off x="1028700" y="4347369"/>
            <a:ext cx="10134600" cy="0"/>
          </a:xfrm>
          <a:prstGeom prst="line">
            <a:avLst/>
          </a:prstGeom>
          <a:noFill/>
          <a:ln w="12700">
            <a:solidFill>
              <a:srgbClr val="D8CBB8"/>
            </a:solidFill>
            <a:prstDash val="solid"/>
          </a:ln>
        </p:spPr>
      </p:sp>
      <p:sp>
        <p:nvSpPr>
          <p:cNvPr id="21" name="Text 19"/>
          <p:cNvSpPr/>
          <p:nvPr/>
        </p:nvSpPr>
        <p:spPr>
          <a:xfrm>
            <a:off x="1028700" y="4064198"/>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Pool misses ₹10,000</a:t>
            </a:r>
            <a:endParaRPr lang="en-US" sz="1200" dirty="0"/>
          </a:p>
        </p:txBody>
      </p:sp>
      <p:sp>
        <p:nvSpPr>
          <p:cNvPr id="22" name="Text 20"/>
          <p:cNvSpPr/>
          <p:nvPr/>
        </p:nvSpPr>
        <p:spPr>
          <a:xfrm>
            <a:off x="4737100" y="4064198"/>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High</a:t>
            </a:r>
            <a:endParaRPr lang="en-US" sz="1200" dirty="0"/>
          </a:p>
        </p:txBody>
      </p:sp>
      <p:sp>
        <p:nvSpPr>
          <p:cNvPr id="23" name="Text 21"/>
          <p:cNvSpPr/>
          <p:nvPr/>
        </p:nvSpPr>
        <p:spPr>
          <a:xfrm>
            <a:off x="5715000" y="4064198"/>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Pod captains, one 3-day extension, merge pods</a:t>
            </a:r>
            <a:endParaRPr lang="en-US" sz="1200" dirty="0"/>
          </a:p>
        </p:txBody>
      </p:sp>
      <p:sp>
        <p:nvSpPr>
          <p:cNvPr id="24" name="Shape 22"/>
          <p:cNvSpPr/>
          <p:nvPr/>
        </p:nvSpPr>
        <p:spPr>
          <a:xfrm>
            <a:off x="1028700" y="4700389"/>
            <a:ext cx="10134600" cy="0"/>
          </a:xfrm>
          <a:prstGeom prst="line">
            <a:avLst/>
          </a:prstGeom>
          <a:noFill/>
          <a:ln w="12700">
            <a:solidFill>
              <a:srgbClr val="D8CBB8"/>
            </a:solidFill>
            <a:prstDash val="solid"/>
          </a:ln>
        </p:spPr>
      </p:sp>
      <p:sp>
        <p:nvSpPr>
          <p:cNvPr id="25" name="Text 23"/>
          <p:cNvSpPr/>
          <p:nvPr/>
        </p:nvSpPr>
        <p:spPr>
          <a:xfrm>
            <a:off x="1028700" y="4417219"/>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Artisan delays or capacity limits</a:t>
            </a:r>
            <a:endParaRPr lang="en-US" sz="1200" dirty="0"/>
          </a:p>
        </p:txBody>
      </p:sp>
      <p:sp>
        <p:nvSpPr>
          <p:cNvPr id="26" name="Text 24"/>
          <p:cNvSpPr/>
          <p:nvPr/>
        </p:nvSpPr>
        <p:spPr>
          <a:xfrm>
            <a:off x="4737100" y="4417219"/>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High</a:t>
            </a:r>
            <a:endParaRPr lang="en-US" sz="1200" dirty="0"/>
          </a:p>
        </p:txBody>
      </p:sp>
      <p:sp>
        <p:nvSpPr>
          <p:cNvPr id="27" name="Text 25"/>
          <p:cNvSpPr/>
          <p:nvPr/>
        </p:nvSpPr>
        <p:spPr>
          <a:xfrm>
            <a:off x="5715000" y="4417219"/>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Two artisans per category, ready-stock items</a:t>
            </a:r>
            <a:endParaRPr lang="en-US" sz="1200" dirty="0"/>
          </a:p>
        </p:txBody>
      </p:sp>
      <p:sp>
        <p:nvSpPr>
          <p:cNvPr id="28" name="Shape 26"/>
          <p:cNvSpPr/>
          <p:nvPr/>
        </p:nvSpPr>
        <p:spPr>
          <a:xfrm>
            <a:off x="1028700" y="5053409"/>
            <a:ext cx="10134600" cy="0"/>
          </a:xfrm>
          <a:prstGeom prst="line">
            <a:avLst/>
          </a:prstGeom>
          <a:noFill/>
          <a:ln w="12700">
            <a:solidFill>
              <a:srgbClr val="D8CBB8"/>
            </a:solidFill>
            <a:prstDash val="solid"/>
          </a:ln>
        </p:spPr>
      </p:sp>
      <p:sp>
        <p:nvSpPr>
          <p:cNvPr id="29" name="Text 27"/>
          <p:cNvSpPr/>
          <p:nvPr/>
        </p:nvSpPr>
        <p:spPr>
          <a:xfrm>
            <a:off x="1028700" y="4770239"/>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Damage or quality mismatch</a:t>
            </a:r>
            <a:endParaRPr lang="en-US" sz="1200" dirty="0"/>
          </a:p>
        </p:txBody>
      </p:sp>
      <p:sp>
        <p:nvSpPr>
          <p:cNvPr id="30" name="Text 28"/>
          <p:cNvSpPr/>
          <p:nvPr/>
        </p:nvSpPr>
        <p:spPr>
          <a:xfrm>
            <a:off x="4737100" y="4770239"/>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Medium</a:t>
            </a:r>
            <a:endParaRPr lang="en-US" sz="1200" dirty="0"/>
          </a:p>
        </p:txBody>
      </p:sp>
      <p:sp>
        <p:nvSpPr>
          <p:cNvPr id="31" name="Text 29"/>
          <p:cNvSpPr/>
          <p:nvPr/>
        </p:nvSpPr>
        <p:spPr>
          <a:xfrm>
            <a:off x="5715000" y="4770239"/>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Hub check, packing standards, replacement promise</a:t>
            </a:r>
            <a:endParaRPr lang="en-US" sz="1200" dirty="0"/>
          </a:p>
        </p:txBody>
      </p:sp>
      <p:sp>
        <p:nvSpPr>
          <p:cNvPr id="32" name="Shape 30"/>
          <p:cNvSpPr/>
          <p:nvPr/>
        </p:nvSpPr>
        <p:spPr>
          <a:xfrm>
            <a:off x="1028700" y="5406430"/>
            <a:ext cx="10134600" cy="0"/>
          </a:xfrm>
          <a:prstGeom prst="line">
            <a:avLst/>
          </a:prstGeom>
          <a:noFill/>
          <a:ln w="12700">
            <a:solidFill>
              <a:srgbClr val="D8CBB8"/>
            </a:solidFill>
            <a:prstDash val="solid"/>
          </a:ln>
        </p:spPr>
      </p:sp>
      <p:sp>
        <p:nvSpPr>
          <p:cNvPr id="33" name="Text 31"/>
          <p:cNvSpPr/>
          <p:nvPr/>
        </p:nvSpPr>
        <p:spPr>
          <a:xfrm>
            <a:off x="1028700" y="5123259"/>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Cash-flow strain</a:t>
            </a:r>
            <a:endParaRPr lang="en-US" sz="1200" dirty="0"/>
          </a:p>
        </p:txBody>
      </p:sp>
      <p:sp>
        <p:nvSpPr>
          <p:cNvPr id="34" name="Text 32"/>
          <p:cNvSpPr/>
          <p:nvPr/>
        </p:nvSpPr>
        <p:spPr>
          <a:xfrm>
            <a:off x="4737100" y="5123259"/>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High</a:t>
            </a:r>
            <a:endParaRPr lang="en-US" sz="1200" dirty="0"/>
          </a:p>
        </p:txBody>
      </p:sp>
      <p:sp>
        <p:nvSpPr>
          <p:cNvPr id="35" name="Text 33"/>
          <p:cNvSpPr/>
          <p:nvPr/>
        </p:nvSpPr>
        <p:spPr>
          <a:xfrm>
            <a:off x="5715000" y="5123259"/>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Charge on confirmation, pay after dispatch</a:t>
            </a:r>
            <a:endParaRPr lang="en-US" sz="1200" dirty="0"/>
          </a:p>
        </p:txBody>
      </p:sp>
      <p:sp>
        <p:nvSpPr>
          <p:cNvPr id="36" name="Text 34"/>
          <p:cNvSpPr/>
          <p:nvPr/>
        </p:nvSpPr>
        <p:spPr>
          <a:xfrm>
            <a:off x="1028700" y="5476280"/>
            <a:ext cx="36626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Slow member growth</a:t>
            </a:r>
            <a:endParaRPr lang="en-US" sz="1200" dirty="0"/>
          </a:p>
        </p:txBody>
      </p:sp>
      <p:sp>
        <p:nvSpPr>
          <p:cNvPr id="37" name="Text 35"/>
          <p:cNvSpPr/>
          <p:nvPr/>
        </p:nvSpPr>
        <p:spPr>
          <a:xfrm>
            <a:off x="4737100" y="5476280"/>
            <a:ext cx="876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2521"/>
                </a:solidFill>
                <a:latin typeface="DM Sans" pitchFamily="34" charset="0"/>
                <a:ea typeface="DM Sans" pitchFamily="34" charset="-122"/>
                <a:cs typeface="DM Sans" pitchFamily="34" charset="-120"/>
              </a:rPr>
              <a:t>High</a:t>
            </a:r>
            <a:endParaRPr lang="en-US" sz="1200" dirty="0"/>
          </a:p>
        </p:txBody>
      </p:sp>
      <p:sp>
        <p:nvSpPr>
          <p:cNvPr id="38" name="Text 36"/>
          <p:cNvSpPr/>
          <p:nvPr/>
        </p:nvSpPr>
        <p:spPr>
          <a:xfrm>
            <a:off x="5715000" y="5476280"/>
            <a:ext cx="56117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7"/>
                </a:solidFill>
                <a:latin typeface="DM Sans" pitchFamily="34" charset="0"/>
                <a:ea typeface="DM Sans" pitchFamily="34" charset="-122"/>
                <a:cs typeface="DM Sans" pitchFamily="34" charset="-120"/>
              </a:rPr>
              <a:t>Two channels, founding price, referral credits</a:t>
            </a:r>
            <a:endParaRPr lang="en-US" sz="1200" dirty="0"/>
          </a:p>
        </p:txBody>
      </p:sp>
      <p:sp>
        <p:nvSpPr>
          <p:cNvPr id="39" name="Text 3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5348"/>
                </a:solidFill>
                <a:latin typeface="DM Sans" pitchFamily="34" charset="0"/>
                <a:ea typeface="DM Sans" pitchFamily="34" charset="-122"/>
                <a:cs typeface="DM Sans" pitchFamily="34" charset="-120"/>
              </a:rPr>
              <a:t>Five key risks; likelihood and impact are in the report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4E4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4EEE4"/>
                </a:solidFill>
                <a:latin typeface="Fraunces" pitchFamily="18" charset="0"/>
                <a:ea typeface="Fraunces" pitchFamily="18" charset="-122"/>
                <a:cs typeface="Fraunces" pitchFamily="18" charset="-120"/>
              </a:rPr>
              <a:t>Go-to-market and 90-day plan</a:t>
            </a:r>
            <a:endParaRPr lang="en-US" sz="3600" dirty="0"/>
          </a:p>
        </p:txBody>
      </p:sp>
      <p:sp>
        <p:nvSpPr>
          <p:cNvPr id="3" name="Shape 1"/>
          <p:cNvSpPr/>
          <p:nvPr/>
        </p:nvSpPr>
        <p:spPr>
          <a:xfrm>
            <a:off x="812800" y="1877120"/>
            <a:ext cx="5181600" cy="1172121"/>
          </a:xfrm>
          <a:prstGeom prst="roundRect">
            <a:avLst>
              <a:gd name="adj" fmla="val 8668"/>
            </a:avLst>
          </a:prstGeom>
          <a:solidFill>
            <a:srgbClr val="2A6660"/>
          </a:solidFill>
          <a:ln/>
        </p:spPr>
      </p:sp>
      <p:sp>
        <p:nvSpPr>
          <p:cNvPr id="4" name="Text 2"/>
          <p:cNvSpPr/>
          <p:nvPr/>
        </p:nvSpPr>
        <p:spPr>
          <a:xfrm>
            <a:off x="1016000" y="2080320"/>
            <a:ext cx="491845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D3B3"/>
                </a:solidFill>
                <a:latin typeface="DM Sans" pitchFamily="34" charset="0"/>
                <a:ea typeface="DM Sans" pitchFamily="34" charset="-122"/>
                <a:cs typeface="DM Sans" pitchFamily="34" charset="-120"/>
              </a:rPr>
              <a:t>Channel 1: society pods</a:t>
            </a:r>
            <a:endParaRPr lang="en-US" sz="1600" dirty="0"/>
          </a:p>
        </p:txBody>
      </p:sp>
      <p:sp>
        <p:nvSpPr>
          <p:cNvPr id="5" name="Text 3"/>
          <p:cNvSpPr/>
          <p:nvPr/>
        </p:nvSpPr>
        <p:spPr>
          <a:xfrm>
            <a:off x="1016000" y="2400350"/>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EEE4"/>
                </a:solidFill>
                <a:latin typeface="DM Sans" pitchFamily="34" charset="0"/>
                <a:ea typeface="DM Sans" pitchFamily="34" charset="-122"/>
                <a:cs typeface="DM Sans" pitchFamily="34" charset="-120"/>
              </a:rPr>
              <a:t>A volunteer captain per housing society, a demo order in the WhatsApp group, ₹299 founding price. Target: 300 members.</a:t>
            </a:r>
            <a:endParaRPr lang="en-US" sz="1300" dirty="0"/>
          </a:p>
        </p:txBody>
      </p:sp>
      <p:sp>
        <p:nvSpPr>
          <p:cNvPr id="6" name="Shape 4"/>
          <p:cNvSpPr/>
          <p:nvPr/>
        </p:nvSpPr>
        <p:spPr>
          <a:xfrm>
            <a:off x="6197600" y="1877120"/>
            <a:ext cx="5181600" cy="1172121"/>
          </a:xfrm>
          <a:prstGeom prst="roundRect">
            <a:avLst>
              <a:gd name="adj" fmla="val 8668"/>
            </a:avLst>
          </a:prstGeom>
          <a:solidFill>
            <a:srgbClr val="2A6660"/>
          </a:solidFill>
          <a:ln/>
        </p:spPr>
      </p:sp>
      <p:sp>
        <p:nvSpPr>
          <p:cNvPr id="7" name="Text 5"/>
          <p:cNvSpPr/>
          <p:nvPr/>
        </p:nvSpPr>
        <p:spPr>
          <a:xfrm>
            <a:off x="6400800" y="2080320"/>
            <a:ext cx="4918456"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D3B3"/>
                </a:solidFill>
                <a:latin typeface="DM Sans" pitchFamily="34" charset="0"/>
                <a:ea typeface="DM Sans" pitchFamily="34" charset="-122"/>
                <a:cs typeface="DM Sans" pitchFamily="34" charset="-120"/>
              </a:rPr>
              <a:t>Channel 2: artisans and pop-ups</a:t>
            </a:r>
            <a:endParaRPr lang="en-US" sz="1600" dirty="0"/>
          </a:p>
        </p:txBody>
      </p:sp>
      <p:sp>
        <p:nvSpPr>
          <p:cNvPr id="8" name="Text 6"/>
          <p:cNvSpPr/>
          <p:nvPr/>
        </p:nvSpPr>
        <p:spPr>
          <a:xfrm>
            <a:off x="6400800" y="2400350"/>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EEE4"/>
                </a:solidFill>
                <a:latin typeface="DM Sans" pitchFamily="34" charset="0"/>
                <a:ea typeface="DM Sans" pitchFamily="34" charset="-122"/>
                <a:cs typeface="DM Sans" pitchFamily="34" charset="-120"/>
              </a:rPr>
              <a:t>Artisans invite their followers with join links; weekend pop-ups with QR sign-up. Target: 150 members.</a:t>
            </a:r>
            <a:endParaRPr lang="en-US" sz="1300" dirty="0"/>
          </a:p>
        </p:txBody>
      </p:sp>
      <p:sp>
        <p:nvSpPr>
          <p:cNvPr id="9" name="Shape 7"/>
          <p:cNvSpPr/>
          <p:nvPr/>
        </p:nvSpPr>
        <p:spPr>
          <a:xfrm>
            <a:off x="812800" y="3610670"/>
            <a:ext cx="3386634" cy="1172121"/>
          </a:xfrm>
          <a:prstGeom prst="roundRect">
            <a:avLst>
              <a:gd name="adj" fmla="val 8668"/>
            </a:avLst>
          </a:prstGeom>
          <a:solidFill>
            <a:srgbClr val="2A6660"/>
          </a:solidFill>
          <a:ln/>
        </p:spPr>
      </p:sp>
      <p:sp>
        <p:nvSpPr>
          <p:cNvPr id="10" name="Text 8"/>
          <p:cNvSpPr/>
          <p:nvPr/>
        </p:nvSpPr>
        <p:spPr>
          <a:xfrm>
            <a:off x="1016000" y="3813870"/>
            <a:ext cx="306964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D3B3"/>
                </a:solidFill>
                <a:latin typeface="DM Sans" pitchFamily="34" charset="0"/>
                <a:ea typeface="DM Sans" pitchFamily="34" charset="-122"/>
                <a:cs typeface="DM Sans" pitchFamily="34" charset="-120"/>
              </a:rPr>
              <a:t>Days 1-30: Prepare</a:t>
            </a:r>
            <a:endParaRPr lang="en-US" sz="1600" dirty="0"/>
          </a:p>
        </p:txBody>
      </p:sp>
      <p:sp>
        <p:nvSpPr>
          <p:cNvPr id="11" name="Text 9"/>
          <p:cNvSpPr/>
          <p:nvPr/>
        </p:nvSpPr>
        <p:spPr>
          <a:xfrm>
            <a:off x="1016000" y="4133900"/>
            <a:ext cx="306964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EEE4"/>
                </a:solidFill>
                <a:latin typeface="DM Sans" pitchFamily="34" charset="0"/>
                <a:ea typeface="DM Sans" pitchFamily="34" charset="-122"/>
                <a:cs typeface="DM Sans" pitchFamily="34" charset="-120"/>
              </a:rPr>
              <a:t>15 artisans, 100 items, 3 pods, 100 founding members, 4 test pools</a:t>
            </a:r>
            <a:endParaRPr lang="en-US" sz="1300" dirty="0"/>
          </a:p>
        </p:txBody>
      </p:sp>
      <p:sp>
        <p:nvSpPr>
          <p:cNvPr id="12" name="Shape 10"/>
          <p:cNvSpPr/>
          <p:nvPr/>
        </p:nvSpPr>
        <p:spPr>
          <a:xfrm>
            <a:off x="4402634" y="3610670"/>
            <a:ext cx="3386683" cy="1172121"/>
          </a:xfrm>
          <a:prstGeom prst="roundRect">
            <a:avLst>
              <a:gd name="adj" fmla="val 8668"/>
            </a:avLst>
          </a:prstGeom>
          <a:solidFill>
            <a:srgbClr val="2A6660"/>
          </a:solidFill>
          <a:ln/>
        </p:spPr>
      </p:sp>
      <p:sp>
        <p:nvSpPr>
          <p:cNvPr id="13" name="Text 11"/>
          <p:cNvSpPr/>
          <p:nvPr/>
        </p:nvSpPr>
        <p:spPr>
          <a:xfrm>
            <a:off x="4605834" y="3813870"/>
            <a:ext cx="30696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D3B3"/>
                </a:solidFill>
                <a:latin typeface="DM Sans" pitchFamily="34" charset="0"/>
                <a:ea typeface="DM Sans" pitchFamily="34" charset="-122"/>
                <a:cs typeface="DM Sans" pitchFamily="34" charset="-120"/>
              </a:rPr>
              <a:t>Days 31-60: Pilot</a:t>
            </a:r>
            <a:endParaRPr lang="en-US" sz="1600" dirty="0"/>
          </a:p>
        </p:txBody>
      </p:sp>
      <p:sp>
        <p:nvSpPr>
          <p:cNvPr id="14" name="Text 12"/>
          <p:cNvSpPr/>
          <p:nvPr/>
        </p:nvSpPr>
        <p:spPr>
          <a:xfrm>
            <a:off x="4605834" y="4133900"/>
            <a:ext cx="306969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4EEE4"/>
                </a:solidFill>
                <a:latin typeface="DM Sans" pitchFamily="34" charset="0"/>
                <a:ea typeface="DM Sans" pitchFamily="34" charset="-122"/>
                <a:cs typeface="DM Sans" pitchFamily="34" charset="-120"/>
              </a:rPr>
              <a:t>6 pods, 250 members, 18 pooled orders, tune cut-off and hub flow</a:t>
            </a:r>
            <a:endParaRPr lang="en-US" sz="1300" dirty="0"/>
          </a:p>
        </p:txBody>
      </p:sp>
      <p:sp>
        <p:nvSpPr>
          <p:cNvPr id="15" name="Shape 13"/>
          <p:cNvSpPr/>
          <p:nvPr/>
        </p:nvSpPr>
        <p:spPr>
          <a:xfrm>
            <a:off x="7992517" y="3610670"/>
            <a:ext cx="3386683" cy="1172121"/>
          </a:xfrm>
          <a:prstGeom prst="roundRect">
            <a:avLst>
              <a:gd name="adj" fmla="val 8668"/>
            </a:avLst>
          </a:prstGeom>
          <a:solidFill>
            <a:srgbClr val="F5D3B3"/>
          </a:solidFill>
          <a:ln/>
        </p:spPr>
      </p:sp>
      <p:sp>
        <p:nvSpPr>
          <p:cNvPr id="16" name="Text 14"/>
          <p:cNvSpPr/>
          <p:nvPr/>
        </p:nvSpPr>
        <p:spPr>
          <a:xfrm>
            <a:off x="8195717" y="3813870"/>
            <a:ext cx="30696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A3B1C"/>
                </a:solidFill>
                <a:latin typeface="DM Sans" pitchFamily="34" charset="0"/>
                <a:ea typeface="DM Sans" pitchFamily="34" charset="-122"/>
                <a:cs typeface="DM Sans" pitchFamily="34" charset="-120"/>
              </a:rPr>
              <a:t>Days 61-90: Scale</a:t>
            </a:r>
            <a:endParaRPr lang="en-US" sz="1600" dirty="0"/>
          </a:p>
        </p:txBody>
      </p:sp>
      <p:sp>
        <p:nvSpPr>
          <p:cNvPr id="17" name="Text 15"/>
          <p:cNvSpPr/>
          <p:nvPr/>
        </p:nvSpPr>
        <p:spPr>
          <a:xfrm>
            <a:off x="8195717" y="4133900"/>
            <a:ext cx="306969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2A2521"/>
                </a:solidFill>
                <a:latin typeface="DM Sans" pitchFamily="34" charset="0"/>
                <a:ea typeface="DM Sans" pitchFamily="34" charset="-122"/>
                <a:cs typeface="DM Sans" pitchFamily="34" charset="-120"/>
              </a:rPr>
              <a:t>10 pods, 450 members, 40 pooled orders a month, above break-even</a:t>
            </a:r>
            <a:endParaRPr lang="en-US" sz="1300" dirty="0"/>
          </a:p>
        </p:txBody>
      </p:sp>
      <p:sp>
        <p:nvSpPr>
          <p:cNvPr id="18" name="Text 16"/>
          <p:cNvSpPr/>
          <p:nvPr/>
        </p:nvSpPr>
        <p:spPr>
          <a:xfrm>
            <a:off x="812800" y="5344220"/>
            <a:ext cx="10883392"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D3B3"/>
                </a:solidFill>
                <a:latin typeface="DM Sans" pitchFamily="34" charset="0"/>
                <a:ea typeface="DM Sans" pitchFamily="34" charset="-122"/>
                <a:cs typeface="DM Sans" pitchFamily="34" charset="-120"/>
              </a:rPr>
              <a:t>Success at day 90:</a:t>
            </a:r>
            <a:r>
              <a:rPr lang="en-US" sz="1400" dirty="0">
                <a:solidFill>
                  <a:srgbClr val="F5D3B3"/>
                </a:solidFill>
                <a:latin typeface="DM Sans" pitchFamily="34" charset="0"/>
                <a:ea typeface="DM Sans" pitchFamily="34" charset="-122"/>
                <a:cs typeface="DM Sans" pitchFamily="34" charset="-120"/>
              </a:rPr>
              <a:t> 450 members · 85% of pools fill · 90% on-time delivery · under 2% damage · 40% repeat · NPS 50+ · CAC ₹150 or less</a:t>
            </a:r>
            <a:endParaRPr lang="en-US" sz="14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EE4"/>
                </a:solidFill>
                <a:latin typeface="DM Sans" pitchFamily="34" charset="0"/>
                <a:ea typeface="DM Sans" pitchFamily="34" charset="-122"/>
                <a:cs typeface="DM Sans" pitchFamily="34" charset="-120"/>
              </a:rPr>
              <a:t>Launch budget ₹60,000; peak funding need about ₹1.05 lakh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4E4A"/>
        </a:solidFill>
      </p:bgPr>
    </p:bg>
    <p:spTree>
      <p:nvGrpSpPr>
        <p:cNvPr id="1" name=""/>
        <p:cNvGrpSpPr/>
        <p:nvPr/>
      </p:nvGrpSpPr>
      <p:grpSpPr>
        <a:xfrm>
          <a:off x="0" y="0"/>
          <a:ext cx="0" cy="0"/>
          <a:chOff x="0" y="0"/>
          <a:chExt cx="0" cy="0"/>
        </a:xfrm>
      </p:grpSpPr>
      <p:sp>
        <p:nvSpPr>
          <p:cNvPr id="2" name="Text 0"/>
          <p:cNvSpPr/>
          <p:nvPr/>
        </p:nvSpPr>
        <p:spPr>
          <a:xfrm>
            <a:off x="812800" y="8128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D3B3"/>
                </a:solidFill>
                <a:latin typeface="DM Sans" pitchFamily="34" charset="0"/>
                <a:ea typeface="DM Sans" pitchFamily="34" charset="-122"/>
                <a:cs typeface="DM Sans" pitchFamily="34" charset="-120"/>
              </a:rPr>
              <a:t>Summary</a:t>
            </a:r>
            <a:endParaRPr lang="en-US" sz="1600" dirty="0"/>
          </a:p>
        </p:txBody>
      </p:sp>
      <p:sp>
        <p:nvSpPr>
          <p:cNvPr id="3" name="Text 1"/>
          <p:cNvSpPr/>
          <p:nvPr>
            <p:ph type="title"/>
          </p:nvPr>
        </p:nvSpPr>
        <p:spPr>
          <a:xfrm>
            <a:off x="812800" y="3550989"/>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EEE4"/>
                </a:solidFill>
                <a:latin typeface="Fraunces" pitchFamily="18" charset="0"/>
                <a:ea typeface="Fraunces" pitchFamily="18" charset="-122"/>
                <a:cs typeface="Fraunces" pitchFamily="18" charset="-120"/>
              </a:rPr>
              <a:t>Thank you</a:t>
            </a:r>
            <a:endParaRPr lang="en-US" sz="6000" dirty="0"/>
          </a:p>
        </p:txBody>
      </p:sp>
      <p:sp>
        <p:nvSpPr>
          <p:cNvPr id="4" name="Text 2"/>
          <p:cNvSpPr/>
          <p:nvPr/>
        </p:nvSpPr>
        <p:spPr>
          <a:xfrm>
            <a:off x="812800" y="4592389"/>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4EEE4"/>
                </a:solidFill>
                <a:latin typeface="DM Sans" pitchFamily="34" charset="0"/>
                <a:ea typeface="DM Sans" pitchFamily="34" charset="-122"/>
                <a:cs typeface="DM Sans" pitchFamily="34" charset="-120"/>
              </a:rPr>
              <a:t>Pooling cuts logistics from ₹1,800 to ₹700, and 36 pooled orders a month makes CraftCircle break even.</a:t>
            </a:r>
            <a:endParaRPr lang="en-US" sz="2200" dirty="0"/>
          </a:p>
        </p:txBody>
      </p:sp>
      <p:sp>
        <p:nvSpPr>
          <p:cNvPr id="5" name="Text 3"/>
          <p:cNvSpPr/>
          <p:nvPr/>
        </p:nvSpPr>
        <p:spPr>
          <a:xfrm>
            <a:off x="812800" y="5521970"/>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5D3B3"/>
                </a:solidFill>
                <a:latin typeface="DM Sans" pitchFamily="34" charset="0"/>
                <a:ea typeface="DM Sans" pitchFamily="34" charset="-122"/>
                <a:cs typeface="DM Sans" pitchFamily="34" charset="-120"/>
              </a:rPr>
              <a:t>Questions are welcome.</a:t>
            </a:r>
            <a:endParaRPr lang="en-US" sz="18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EEE4"/>
                </a:solidFill>
                <a:latin typeface="DM Sans" pitchFamily="34" charset="0"/>
                <a:ea typeface="DM Sans" pitchFamily="34" charset="-122"/>
                <a:cs typeface="DM Sans" pitchFamily="34" charset="-120"/>
              </a:rPr>
              <a:t>Bhaumikk Keer · Roll no. 150096725030 · Cohort: Larry Page</a:t>
            </a:r>
            <a:endParaRPr lang="en-US" sz="1200" dirty="0"/>
          </a:p>
        </p:txBody>
      </p:sp>
    </p:spTree>
  </p:cSld>
  <p:clrMapOvr>
    <a:masterClrMapping/>
  </p:clrMapOvr>
</p:sld>
</file>

<file path=ppt/theme/theme1.xml><?xml version="1.0" encoding="utf-8"?>
<a:theme xmlns:a="http://schemas.openxmlformats.org/drawingml/2006/main" name="CraftCircle: Local Artisan Bulk Buying Club">
  <a:themeElements>
    <a:clrScheme name="CraftCircle: Local Artisan Bulk Buying Club">
      <a:dk1>
        <a:srgbClr val="2A2521"/>
      </a:dk1>
      <a:lt1>
        <a:srgbClr val="F4EEE4"/>
      </a:lt1>
      <a:dk2>
        <a:srgbClr val="5D5752"/>
      </a:dk2>
      <a:lt2>
        <a:srgbClr val="E0DAD1"/>
      </a:lt2>
      <a:accent1>
        <a:srgbClr val="B4532A"/>
      </a:accent1>
      <a:accent2>
        <a:srgbClr val="F5D3B3"/>
      </a:accent2>
      <a:accent3>
        <a:srgbClr val="1F4E4A"/>
      </a:accent3>
      <a:accent4>
        <a:srgbClr val="2A6660"/>
      </a:accent4>
      <a:accent5>
        <a:srgbClr val="8A3B1C"/>
      </a:accent5>
      <a:accent6>
        <a:srgbClr val="5E5347"/>
      </a:accent6>
      <a:hlink>
        <a:srgbClr val="0563C1"/>
      </a:hlink>
      <a:folHlink>
        <a:srgbClr val="954F72"/>
      </a:folHlink>
    </a:clrScheme>
    <a:fontScheme name="CraftCircle: Local Artisan Bulk Buying Club">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CraftCircle: Local Artisan Bulk Buying Club</dc:title>
  <dc:subject/>
  <dc:creator/>
  <cp:lastModifiedBy/>
  <cp:revision>1</cp:revision>
  <dcterms:created xsi:type="dcterms:W3CDTF">2026-10-01T03:53:11Z</dcterms:created>
  <dcterms:modified xsi:type="dcterms:W3CDTF">2026-10-01T03:53:11Z</dcterms:modified>
</cp:coreProperties>
</file>